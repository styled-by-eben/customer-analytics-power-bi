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Lst>
  <p:sldSz cx="18288000" cy="10287000"/>
  <p:notesSz cx="6858000" cy="9144000"/>
  <p:embeddedFontLst>
    <p:embeddedFont>
      <p:font typeface="Noto Serif Japanese Extra-Light" panose="020B0604020202020204" charset="-128"/>
      <p:regular r:id="rId11"/>
    </p:embeddedFont>
    <p:embeddedFont>
      <p:font typeface="Calibri" panose="020F0502020204030204" pitchFamily="34" charset="0"/>
      <p:regular r:id="rId12"/>
      <p:bold r:id="rId13"/>
      <p:italic r:id="rId14"/>
      <p:boldItalic r:id="rId15"/>
    </p:embeddedFont>
    <p:embeddedFont>
      <p:font typeface="Work Sans" pitchFamily="2" charset="0"/>
      <p:regular r:id="rId16"/>
      <p:bold r:id="rId17"/>
      <p:italic r:id="rId18"/>
      <p:boldItalic r:id="rId1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42" d="100"/>
          <a:sy n="42" d="100"/>
        </p:scale>
        <p:origin x="780" y="5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3.fntdata"/><Relationship Id="rId18" Type="http://schemas.openxmlformats.org/officeDocument/2006/relationships/font" Target="fonts/font8.fntdata"/><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font" Target="fonts/font2.fntdata"/><Relationship Id="rId17" Type="http://schemas.openxmlformats.org/officeDocument/2006/relationships/font" Target="fonts/font7.fntdata"/><Relationship Id="rId2" Type="http://schemas.openxmlformats.org/officeDocument/2006/relationships/slide" Target="slides/slide1.xml"/><Relationship Id="rId16" Type="http://schemas.openxmlformats.org/officeDocument/2006/relationships/font" Target="fonts/font6.fntdata"/><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font" Target="fonts/font1.fntdata"/><Relationship Id="rId5" Type="http://schemas.openxmlformats.org/officeDocument/2006/relationships/slide" Target="slides/slide4.xml"/><Relationship Id="rId15" Type="http://schemas.openxmlformats.org/officeDocument/2006/relationships/font" Target="fonts/font5.fntdata"/><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font" Target="fonts/font9.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4.fntdata"/><Relationship Id="rId22"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63503" y="-63503"/>
            <a:ext cx="18414997" cy="10413997"/>
          </a:xfrm>
          <a:custGeom>
            <a:avLst/>
            <a:gdLst/>
            <a:ahLst/>
            <a:cxnLst/>
            <a:rect l="l" t="t" r="r" b="b"/>
            <a:pathLst>
              <a:path w="18414997" h="10413997">
                <a:moveTo>
                  <a:pt x="0" y="0"/>
                </a:moveTo>
                <a:lnTo>
                  <a:pt x="18414997" y="0"/>
                </a:lnTo>
                <a:lnTo>
                  <a:pt x="18414997" y="10413997"/>
                </a:lnTo>
                <a:lnTo>
                  <a:pt x="0" y="10413997"/>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5" name="TextBox 5"/>
          <p:cNvSpPr txBox="1"/>
          <p:nvPr/>
        </p:nvSpPr>
        <p:spPr>
          <a:xfrm>
            <a:off x="6457855" y="4298404"/>
            <a:ext cx="5428012" cy="334118"/>
          </a:xfrm>
          <a:prstGeom prst="rect">
            <a:avLst/>
          </a:prstGeom>
        </p:spPr>
        <p:txBody>
          <a:bodyPr lIns="0" tIns="0" rIns="0" bIns="0" rtlCol="0" anchor="t">
            <a:spAutoFit/>
          </a:bodyPr>
          <a:lstStyle/>
          <a:p>
            <a:pPr algn="l">
              <a:lnSpc>
                <a:spcPts val="2520"/>
              </a:lnSpc>
            </a:pPr>
            <a:r>
              <a:rPr lang="en-US" sz="1800" spc="334">
                <a:solidFill>
                  <a:srgbClr val="111111"/>
                </a:solidFill>
                <a:latin typeface="Work Sans"/>
                <a:ea typeface="Work Sans"/>
                <a:cs typeface="Work Sans"/>
                <a:sym typeface="Work Sans"/>
              </a:rPr>
              <a:t>POWER BI DATA ANALYSIS PROJECT</a:t>
            </a:r>
          </a:p>
        </p:txBody>
      </p:sp>
      <p:sp>
        <p:nvSpPr>
          <p:cNvPr id="6" name="TextBox 6"/>
          <p:cNvSpPr txBox="1"/>
          <p:nvPr/>
        </p:nvSpPr>
        <p:spPr>
          <a:xfrm>
            <a:off x="1507779" y="4791018"/>
            <a:ext cx="15598121" cy="2103958"/>
          </a:xfrm>
          <a:prstGeom prst="rect">
            <a:avLst/>
          </a:prstGeom>
        </p:spPr>
        <p:txBody>
          <a:bodyPr lIns="0" tIns="0" rIns="0" bIns="0" rtlCol="0" anchor="t">
            <a:spAutoFit/>
          </a:bodyPr>
          <a:lstStyle/>
          <a:p>
            <a:pPr algn="ctr">
              <a:lnSpc>
                <a:spcPts val="7948"/>
              </a:lnSpc>
            </a:pPr>
            <a:r>
              <a:rPr lang="en-US" sz="7200" b="1" dirty="0">
                <a:solidFill>
                  <a:srgbClr val="111111"/>
                </a:solidFill>
                <a:latin typeface="Times New Roman" panose="02020603050405020304" pitchFamily="18" charset="0"/>
                <a:ea typeface="Noto Serif Japanese Extra-Light"/>
                <a:cs typeface="Times New Roman" panose="02020603050405020304" pitchFamily="18" charset="0"/>
                <a:sym typeface="Noto Serif Japanese Extra-Light"/>
              </a:rPr>
              <a:t>Customer Analytics &amp;</a:t>
            </a:r>
          </a:p>
          <a:p>
            <a:pPr algn="ctr">
              <a:lnSpc>
                <a:spcPts val="7948"/>
              </a:lnSpc>
            </a:pPr>
            <a:r>
              <a:rPr lang="en-US" sz="7200" b="1" dirty="0">
                <a:solidFill>
                  <a:srgbClr val="111111"/>
                </a:solidFill>
                <a:latin typeface="Times New Roman" panose="02020603050405020304" pitchFamily="18" charset="0"/>
                <a:ea typeface="Noto Serif Japanese Extra-Light"/>
                <a:cs typeface="Times New Roman" panose="02020603050405020304" pitchFamily="18" charset="0"/>
                <a:sym typeface="Noto Serif Japanese Extra-Light"/>
              </a:rPr>
              <a:t>Shipping Performance Dashboard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5" name="TextBox 5"/>
          <p:cNvSpPr txBox="1"/>
          <p:nvPr/>
        </p:nvSpPr>
        <p:spPr>
          <a:xfrm>
            <a:off x="952500" y="885168"/>
            <a:ext cx="3343199" cy="669927"/>
          </a:xfrm>
          <a:prstGeom prst="rect">
            <a:avLst/>
          </a:prstGeom>
        </p:spPr>
        <p:txBody>
          <a:bodyPr lIns="0" tIns="0" rIns="0" bIns="0" rtlCol="0" anchor="t">
            <a:spAutoFit/>
          </a:bodyPr>
          <a:lstStyle/>
          <a:p>
            <a:pPr algn="l">
              <a:lnSpc>
                <a:spcPts val="5670"/>
              </a:lnSpc>
            </a:pPr>
            <a:r>
              <a:rPr lang="en-US" sz="4050" b="1" dirty="0">
                <a:solidFill>
                  <a:srgbClr val="111111"/>
                </a:solidFill>
                <a:latin typeface="Times New Roman" panose="02020603050405020304" pitchFamily="18" charset="0"/>
                <a:ea typeface="Noto Serif Japanese Extra-Light"/>
                <a:cs typeface="Times New Roman" panose="02020603050405020304" pitchFamily="18" charset="0"/>
                <a:sym typeface="Noto Serif Japanese Extra-Light"/>
              </a:rPr>
              <a:t>Introduction</a:t>
            </a:r>
          </a:p>
        </p:txBody>
      </p:sp>
      <p:sp>
        <p:nvSpPr>
          <p:cNvPr id="6" name="TextBox 6"/>
          <p:cNvSpPr txBox="1"/>
          <p:nvPr/>
        </p:nvSpPr>
        <p:spPr>
          <a:xfrm>
            <a:off x="1514475" y="1868281"/>
            <a:ext cx="69637" cy="364417"/>
          </a:xfrm>
          <a:prstGeom prst="rect">
            <a:avLst/>
          </a:prstGeom>
        </p:spPr>
        <p:txBody>
          <a:bodyPr lIns="0" tIns="0" rIns="0" bIns="0" rtlCol="0" anchor="t">
            <a:spAutoFit/>
          </a:bodyPr>
          <a:lstStyle/>
          <a:p>
            <a:pPr algn="l">
              <a:lnSpc>
                <a:spcPts val="2940"/>
              </a:lnSpc>
            </a:pPr>
            <a:r>
              <a:rPr lang="en-US" sz="2100">
                <a:solidFill>
                  <a:srgbClr val="252525"/>
                </a:solidFill>
                <a:latin typeface="Noto Serif Japanese Extra-Light"/>
                <a:ea typeface="Noto Serif Japanese Extra-Light"/>
                <a:cs typeface="Noto Serif Japanese Extra-Light"/>
                <a:sym typeface="Noto Serif Japanese Extra-Light"/>
              </a:rPr>
              <a:t> </a:t>
            </a:r>
          </a:p>
        </p:txBody>
      </p:sp>
      <p:sp>
        <p:nvSpPr>
          <p:cNvPr id="7" name="TextBox 7"/>
          <p:cNvSpPr txBox="1"/>
          <p:nvPr/>
        </p:nvSpPr>
        <p:spPr>
          <a:xfrm>
            <a:off x="952500" y="1868281"/>
            <a:ext cx="16600761" cy="343235"/>
          </a:xfrm>
          <a:prstGeom prst="rect">
            <a:avLst/>
          </a:prstGeom>
        </p:spPr>
        <p:txBody>
          <a:bodyPr lIns="0" tIns="0" rIns="0" bIns="0" rtlCol="0" anchor="t">
            <a:spAutoFit/>
          </a:bodyPr>
          <a:lstStyle/>
          <a:p>
            <a:pPr algn="l">
              <a:lnSpc>
                <a:spcPts val="2940"/>
              </a:lnSpc>
            </a:pPr>
            <a:r>
              <a:rPr lang="en-US" sz="2100" dirty="0">
                <a:latin typeface="Noto Serif Japanese Extra-Light"/>
                <a:ea typeface="Noto Serif Japanese Extra-Light"/>
                <a:cs typeface="Noto Serif Japanese Extra-Light"/>
                <a:sym typeface="Noto Serif Japanese Extra-Light"/>
              </a:rPr>
              <a:t>This project analyses customer and shipment data for an e-commerce company selling electronic products. The objective is to</a:t>
            </a:r>
          </a:p>
        </p:txBody>
      </p:sp>
      <p:sp>
        <p:nvSpPr>
          <p:cNvPr id="8" name="TextBox 8"/>
          <p:cNvSpPr txBox="1"/>
          <p:nvPr/>
        </p:nvSpPr>
        <p:spPr>
          <a:xfrm>
            <a:off x="952500" y="2258806"/>
            <a:ext cx="16266814" cy="935917"/>
          </a:xfrm>
          <a:prstGeom prst="rect">
            <a:avLst/>
          </a:prstGeom>
        </p:spPr>
        <p:txBody>
          <a:bodyPr lIns="0" tIns="0" rIns="0" bIns="0" rtlCol="0" anchor="t">
            <a:spAutoFit/>
          </a:bodyPr>
          <a:lstStyle/>
          <a:p>
            <a:pPr algn="l">
              <a:lnSpc>
                <a:spcPts val="3824"/>
              </a:lnSpc>
            </a:pPr>
            <a:r>
              <a:rPr lang="en-US" sz="2100" dirty="0">
                <a:latin typeface="Noto Serif Japanese Extra-Light"/>
                <a:ea typeface="Noto Serif Japanese Extra-Light"/>
                <a:cs typeface="Noto Serif Japanese Extra-Light"/>
                <a:sym typeface="Noto Serif Japanese Extra-Light"/>
              </a:rPr>
              <a:t>identify patterns in customer demographics, satisfaction, product importance, shipping preferences, delivery performance and warehouse usage, while also uncovering additional insights that can support business decision-making.</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63499" y="-12697"/>
            <a:ext cx="18414997" cy="10413997"/>
          </a:xfrm>
          <a:custGeom>
            <a:avLst/>
            <a:gdLst/>
            <a:ahLst/>
            <a:cxnLst/>
            <a:rect l="l" t="t" r="r" b="b"/>
            <a:pathLst>
              <a:path w="18414997" h="10413997">
                <a:moveTo>
                  <a:pt x="0" y="0"/>
                </a:moveTo>
                <a:lnTo>
                  <a:pt x="18414997" y="0"/>
                </a:lnTo>
                <a:lnTo>
                  <a:pt x="18414997" y="10413997"/>
                </a:lnTo>
                <a:lnTo>
                  <a:pt x="0" y="10413997"/>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dirty="0"/>
          </a:p>
        </p:txBody>
      </p:sp>
      <p:sp>
        <p:nvSpPr>
          <p:cNvPr id="5" name="TextBox 5"/>
          <p:cNvSpPr txBox="1"/>
          <p:nvPr/>
        </p:nvSpPr>
        <p:spPr>
          <a:xfrm>
            <a:off x="949328" y="4352801"/>
            <a:ext cx="10556929" cy="1447800"/>
          </a:xfrm>
          <a:prstGeom prst="rect">
            <a:avLst/>
          </a:prstGeom>
        </p:spPr>
        <p:txBody>
          <a:bodyPr lIns="0" tIns="0" rIns="0" bIns="0" rtlCol="0" anchor="t">
            <a:spAutoFit/>
          </a:bodyPr>
          <a:lstStyle/>
          <a:p>
            <a:pPr algn="l">
              <a:lnSpc>
                <a:spcPts val="5698"/>
              </a:lnSpc>
            </a:pPr>
            <a:r>
              <a:rPr lang="en-US" sz="4050" b="1" dirty="0">
                <a:solidFill>
                  <a:srgbClr val="111111"/>
                </a:solidFill>
                <a:latin typeface="Times New Roman" panose="02020603050405020304" pitchFamily="18" charset="0"/>
                <a:ea typeface="Noto Serif Japanese Extra-Light"/>
                <a:cs typeface="Times New Roman" panose="02020603050405020304" pitchFamily="18" charset="0"/>
                <a:sym typeface="Noto Serif Japanese Extra-Light"/>
              </a:rPr>
              <a:t>10,999 orders </a:t>
            </a:r>
            <a:r>
              <a:rPr lang="en-US" sz="4050" b="1" dirty="0" err="1">
                <a:solidFill>
                  <a:srgbClr val="111111"/>
                </a:solidFill>
                <a:latin typeface="Times New Roman" panose="02020603050405020304" pitchFamily="18" charset="0"/>
                <a:ea typeface="Noto Serif Japanese Extra-Light"/>
                <a:cs typeface="Times New Roman" panose="02020603050405020304" pitchFamily="18" charset="0"/>
                <a:sym typeface="Noto Serif Japanese Extra-Light"/>
              </a:rPr>
              <a:t>analysed</a:t>
            </a:r>
            <a:r>
              <a:rPr lang="en-US" sz="4050" b="1" dirty="0">
                <a:solidFill>
                  <a:srgbClr val="111111"/>
                </a:solidFill>
                <a:latin typeface="Times New Roman" panose="02020603050405020304" pitchFamily="18" charset="0"/>
                <a:ea typeface="Noto Serif Japanese Extra-Light"/>
                <a:cs typeface="Times New Roman" panose="02020603050405020304" pitchFamily="18" charset="0"/>
                <a:sym typeface="Noto Serif Japanese Extra-Light"/>
              </a:rPr>
              <a:t> — but only 4 in 10 arrived on time.</a:t>
            </a:r>
          </a:p>
        </p:txBody>
      </p:sp>
      <p:sp>
        <p:nvSpPr>
          <p:cNvPr id="6" name="TextBox 6"/>
          <p:cNvSpPr txBox="1"/>
          <p:nvPr/>
        </p:nvSpPr>
        <p:spPr>
          <a:xfrm>
            <a:off x="14005884" y="7581818"/>
            <a:ext cx="2246062" cy="567656"/>
          </a:xfrm>
          <a:prstGeom prst="rect">
            <a:avLst/>
          </a:prstGeom>
        </p:spPr>
        <p:txBody>
          <a:bodyPr wrap="square" lIns="0" tIns="0" rIns="0" bIns="0" rtlCol="0" anchor="t">
            <a:spAutoFit/>
          </a:bodyPr>
          <a:lstStyle/>
          <a:p>
            <a:pPr algn="l">
              <a:lnSpc>
                <a:spcPts val="900"/>
              </a:lnSpc>
            </a:pPr>
            <a:r>
              <a:rPr lang="en-US" sz="1800" spc="318" dirty="0">
                <a:solidFill>
                  <a:srgbClr val="111111"/>
                </a:solidFill>
                <a:latin typeface="Work Sans"/>
                <a:ea typeface="Work Sans"/>
                <a:cs typeface="Work Sans"/>
                <a:sym typeface="Work Sans"/>
              </a:rPr>
              <a:t>TOTAL PAID</a:t>
            </a:r>
          </a:p>
          <a:p>
            <a:pPr algn="l">
              <a:lnSpc>
                <a:spcPts val="1050"/>
              </a:lnSpc>
            </a:pPr>
            <a:endParaRPr lang="en-US" sz="2100" dirty="0">
              <a:solidFill>
                <a:srgbClr val="252525"/>
              </a:solidFill>
              <a:latin typeface="Noto Serif Japanese Extra-Light"/>
              <a:ea typeface="Noto Serif Japanese Extra-Light"/>
              <a:cs typeface="Noto Serif Japanese Extra-Light"/>
              <a:sym typeface="Noto Serif Japanese Extra-Light"/>
            </a:endParaRPr>
          </a:p>
          <a:p>
            <a:pPr algn="l">
              <a:lnSpc>
                <a:spcPts val="1050"/>
              </a:lnSpc>
            </a:pPr>
            <a:endParaRPr lang="en-US" sz="2100" dirty="0">
              <a:solidFill>
                <a:srgbClr val="252525"/>
              </a:solidFill>
              <a:latin typeface="Noto Serif Japanese Extra-Light"/>
              <a:ea typeface="Noto Serif Japanese Extra-Light"/>
              <a:cs typeface="Noto Serif Japanese Extra-Light"/>
              <a:sym typeface="Noto Serif Japanese Extra-Light"/>
            </a:endParaRPr>
          </a:p>
          <a:p>
            <a:pPr algn="l">
              <a:lnSpc>
                <a:spcPts val="1050"/>
              </a:lnSpc>
            </a:pPr>
            <a:r>
              <a:rPr lang="en-US" sz="2100" dirty="0">
                <a:solidFill>
                  <a:srgbClr val="252525"/>
                </a:solidFill>
                <a:latin typeface="Noto Serif Japanese Extra-Light"/>
                <a:ea typeface="Noto Serif Japanese Extra-Light"/>
                <a:cs typeface="Noto Serif Japanese Extra-Light"/>
                <a:sym typeface="Noto Serif Japanese Extra-Light"/>
              </a:rPr>
              <a:t>2M</a:t>
            </a:r>
          </a:p>
        </p:txBody>
      </p:sp>
      <p:sp>
        <p:nvSpPr>
          <p:cNvPr id="7" name="TextBox 7"/>
          <p:cNvSpPr txBox="1"/>
          <p:nvPr/>
        </p:nvSpPr>
        <p:spPr>
          <a:xfrm>
            <a:off x="14005884" y="3964996"/>
            <a:ext cx="2529516" cy="708720"/>
          </a:xfrm>
          <a:prstGeom prst="rect">
            <a:avLst/>
          </a:prstGeom>
        </p:spPr>
        <p:txBody>
          <a:bodyPr wrap="square" lIns="0" tIns="0" rIns="0" bIns="0" rtlCol="0" anchor="t">
            <a:spAutoFit/>
          </a:bodyPr>
          <a:lstStyle/>
          <a:p>
            <a:pPr algn="l">
              <a:lnSpc>
                <a:spcPts val="900"/>
              </a:lnSpc>
            </a:pPr>
            <a:r>
              <a:rPr lang="en-US" sz="1800" spc="342" dirty="0">
                <a:solidFill>
                  <a:srgbClr val="111111"/>
                </a:solidFill>
                <a:latin typeface="Work Sans"/>
                <a:ea typeface="Work Sans"/>
                <a:cs typeface="Work Sans"/>
                <a:sym typeface="Work Sans"/>
              </a:rPr>
              <a:t>ON-TIME RATE</a:t>
            </a:r>
            <a:endParaRPr lang="en-US" sz="2100" dirty="0">
              <a:solidFill>
                <a:srgbClr val="252525"/>
              </a:solidFill>
              <a:latin typeface="Noto Serif Japanese Extra-Light"/>
              <a:ea typeface="Noto Serif Japanese Extra-Light"/>
              <a:cs typeface="Noto Serif Japanese Extra-Light"/>
              <a:sym typeface="Noto Serif Japanese Extra-Light"/>
            </a:endParaRPr>
          </a:p>
          <a:p>
            <a:pPr algn="l">
              <a:lnSpc>
                <a:spcPts val="1050"/>
              </a:lnSpc>
            </a:pPr>
            <a:endParaRPr lang="en-US" sz="2100" dirty="0">
              <a:solidFill>
                <a:srgbClr val="252525"/>
              </a:solidFill>
              <a:latin typeface="Noto Serif Japanese Extra-Light"/>
              <a:ea typeface="Noto Serif Japanese Extra-Light"/>
              <a:cs typeface="Noto Serif Japanese Extra-Light"/>
              <a:sym typeface="Noto Serif Japanese Extra-Light"/>
            </a:endParaRPr>
          </a:p>
          <a:p>
            <a:pPr algn="l">
              <a:lnSpc>
                <a:spcPts val="1050"/>
              </a:lnSpc>
            </a:pPr>
            <a:endParaRPr lang="en-US" sz="2100" dirty="0">
              <a:solidFill>
                <a:srgbClr val="252525"/>
              </a:solidFill>
              <a:latin typeface="Noto Serif Japanese Extra-Light"/>
              <a:ea typeface="Noto Serif Japanese Extra-Light"/>
              <a:cs typeface="Noto Serif Japanese Extra-Light"/>
              <a:sym typeface="Noto Serif Japanese Extra-Light"/>
            </a:endParaRPr>
          </a:p>
          <a:p>
            <a:pPr algn="l">
              <a:lnSpc>
                <a:spcPts val="1050"/>
              </a:lnSpc>
            </a:pPr>
            <a:endParaRPr lang="en-US" sz="2100" dirty="0">
              <a:solidFill>
                <a:srgbClr val="252525"/>
              </a:solidFill>
              <a:latin typeface="Noto Serif Japanese Extra-Light"/>
              <a:ea typeface="Noto Serif Japanese Extra-Light"/>
              <a:cs typeface="Noto Serif Japanese Extra-Light"/>
              <a:sym typeface="Noto Serif Japanese Extra-Light"/>
            </a:endParaRPr>
          </a:p>
          <a:p>
            <a:pPr algn="l">
              <a:lnSpc>
                <a:spcPts val="1050"/>
              </a:lnSpc>
            </a:pPr>
            <a:r>
              <a:rPr lang="en-US" sz="2100" dirty="0">
                <a:solidFill>
                  <a:srgbClr val="252525"/>
                </a:solidFill>
                <a:latin typeface="Noto Serif Japanese Extra-Light"/>
                <a:ea typeface="Noto Serif Japanese Extra-Light"/>
                <a:cs typeface="Noto Serif Japanese Extra-Light"/>
                <a:sym typeface="Noto Serif Japanese Extra-Light"/>
              </a:rPr>
              <a:t>40.3%</a:t>
            </a:r>
          </a:p>
        </p:txBody>
      </p:sp>
      <p:sp>
        <p:nvSpPr>
          <p:cNvPr id="8" name="TextBox 8"/>
          <p:cNvSpPr txBox="1"/>
          <p:nvPr/>
        </p:nvSpPr>
        <p:spPr>
          <a:xfrm>
            <a:off x="14005884" y="1974418"/>
            <a:ext cx="2246062" cy="567656"/>
          </a:xfrm>
          <a:prstGeom prst="rect">
            <a:avLst/>
          </a:prstGeom>
        </p:spPr>
        <p:txBody>
          <a:bodyPr lIns="0" tIns="0" rIns="0" bIns="0" rtlCol="0" anchor="t">
            <a:spAutoFit/>
          </a:bodyPr>
          <a:lstStyle/>
          <a:p>
            <a:pPr algn="l">
              <a:lnSpc>
                <a:spcPts val="900"/>
              </a:lnSpc>
            </a:pPr>
            <a:r>
              <a:rPr lang="en-US" sz="1800" spc="327" dirty="0">
                <a:solidFill>
                  <a:srgbClr val="111111"/>
                </a:solidFill>
                <a:latin typeface="Work Sans"/>
                <a:ea typeface="Work Sans"/>
                <a:cs typeface="Work Sans"/>
                <a:sym typeface="Work Sans"/>
              </a:rPr>
              <a:t>TOTAL ORDERS</a:t>
            </a:r>
          </a:p>
          <a:p>
            <a:pPr algn="l">
              <a:lnSpc>
                <a:spcPts val="1050"/>
              </a:lnSpc>
            </a:pPr>
            <a:endParaRPr lang="en-US" sz="2100" dirty="0">
              <a:solidFill>
                <a:srgbClr val="111111"/>
              </a:solidFill>
              <a:latin typeface="Noto Serif Japanese Extra-Light"/>
              <a:ea typeface="Noto Serif Japanese Extra-Light"/>
              <a:cs typeface="Noto Serif Japanese Extra-Light"/>
              <a:sym typeface="Noto Serif Japanese Extra-Light"/>
            </a:endParaRPr>
          </a:p>
          <a:p>
            <a:pPr algn="l">
              <a:lnSpc>
                <a:spcPts val="1050"/>
              </a:lnSpc>
            </a:pPr>
            <a:endParaRPr lang="en-US" sz="2100" dirty="0">
              <a:solidFill>
                <a:srgbClr val="111111"/>
              </a:solidFill>
              <a:latin typeface="Noto Serif Japanese Extra-Light"/>
              <a:ea typeface="Noto Serif Japanese Extra-Light"/>
              <a:cs typeface="Noto Serif Japanese Extra-Light"/>
              <a:sym typeface="Noto Serif Japanese Extra-Light"/>
            </a:endParaRPr>
          </a:p>
          <a:p>
            <a:pPr algn="l">
              <a:lnSpc>
                <a:spcPts val="1050"/>
              </a:lnSpc>
            </a:pPr>
            <a:r>
              <a:rPr lang="en-US" sz="2100" dirty="0">
                <a:solidFill>
                  <a:srgbClr val="111111"/>
                </a:solidFill>
                <a:latin typeface="Noto Serif Japanese Extra-Light"/>
                <a:ea typeface="Noto Serif Japanese Extra-Light"/>
                <a:cs typeface="Noto Serif Japanese Extra-Light"/>
                <a:sym typeface="Noto Serif Japanese Extra-Light"/>
              </a:rPr>
              <a:t>10,999</a:t>
            </a:r>
          </a:p>
        </p:txBody>
      </p:sp>
      <p:sp>
        <p:nvSpPr>
          <p:cNvPr id="9" name="TextBox 9"/>
          <p:cNvSpPr txBox="1"/>
          <p:nvPr/>
        </p:nvSpPr>
        <p:spPr>
          <a:xfrm>
            <a:off x="14005884" y="5773407"/>
            <a:ext cx="2812752" cy="708720"/>
          </a:xfrm>
          <a:prstGeom prst="rect">
            <a:avLst/>
          </a:prstGeom>
        </p:spPr>
        <p:txBody>
          <a:bodyPr wrap="square" lIns="0" tIns="0" rIns="0" bIns="0" rtlCol="0" anchor="t">
            <a:spAutoFit/>
          </a:bodyPr>
          <a:lstStyle/>
          <a:p>
            <a:pPr algn="l">
              <a:lnSpc>
                <a:spcPts val="900"/>
              </a:lnSpc>
            </a:pPr>
            <a:r>
              <a:rPr lang="en-US" sz="1800" spc="342" dirty="0">
                <a:solidFill>
                  <a:srgbClr val="111111"/>
                </a:solidFill>
                <a:latin typeface="Work Sans"/>
                <a:ea typeface="Work Sans"/>
                <a:cs typeface="Work Sans"/>
                <a:sym typeface="Work Sans"/>
              </a:rPr>
              <a:t>AVG ORDER VALUE</a:t>
            </a:r>
          </a:p>
          <a:p>
            <a:pPr algn="l">
              <a:lnSpc>
                <a:spcPts val="1050"/>
              </a:lnSpc>
            </a:pPr>
            <a:endParaRPr lang="en-US" sz="2100" dirty="0">
              <a:solidFill>
                <a:srgbClr val="111111"/>
              </a:solidFill>
              <a:latin typeface="Noto Serif Japanese Extra-Light"/>
              <a:ea typeface="Noto Serif Japanese Extra-Light"/>
              <a:cs typeface="Noto Serif Japanese Extra-Light"/>
              <a:sym typeface="Noto Serif Japanese Extra-Light"/>
            </a:endParaRPr>
          </a:p>
          <a:p>
            <a:pPr algn="l">
              <a:lnSpc>
                <a:spcPts val="1050"/>
              </a:lnSpc>
            </a:pPr>
            <a:endParaRPr lang="en-US" sz="2100" dirty="0">
              <a:solidFill>
                <a:srgbClr val="111111"/>
              </a:solidFill>
              <a:latin typeface="Noto Serif Japanese Extra-Light"/>
              <a:ea typeface="Noto Serif Japanese Extra-Light"/>
              <a:cs typeface="Noto Serif Japanese Extra-Light"/>
              <a:sym typeface="Noto Serif Japanese Extra-Light"/>
            </a:endParaRPr>
          </a:p>
          <a:p>
            <a:pPr algn="l">
              <a:lnSpc>
                <a:spcPts val="1050"/>
              </a:lnSpc>
            </a:pPr>
            <a:endParaRPr lang="en-US" sz="2100" dirty="0">
              <a:solidFill>
                <a:srgbClr val="111111"/>
              </a:solidFill>
              <a:latin typeface="Noto Serif Japanese Extra-Light"/>
              <a:ea typeface="Noto Serif Japanese Extra-Light"/>
              <a:cs typeface="Noto Serif Japanese Extra-Light"/>
              <a:sym typeface="Noto Serif Japanese Extra-Light"/>
            </a:endParaRPr>
          </a:p>
          <a:p>
            <a:pPr algn="l">
              <a:lnSpc>
                <a:spcPts val="1050"/>
              </a:lnSpc>
            </a:pPr>
            <a:r>
              <a:rPr lang="en-US" sz="2100" dirty="0">
                <a:solidFill>
                  <a:srgbClr val="111111"/>
                </a:solidFill>
                <a:latin typeface="Noto Serif Japanese Extra-Light"/>
                <a:ea typeface="Noto Serif Japanese Extra-Light"/>
                <a:cs typeface="Noto Serif Japanese Extra-Light"/>
                <a:sym typeface="Noto Serif Japanese Extra-Light"/>
              </a:rPr>
              <a:t>204.94</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63503" y="-63503"/>
            <a:ext cx="18414997" cy="10413997"/>
          </a:xfrm>
          <a:custGeom>
            <a:avLst/>
            <a:gdLst/>
            <a:ahLst/>
            <a:cxnLst/>
            <a:rect l="l" t="t" r="r" b="b"/>
            <a:pathLst>
              <a:path w="18414997" h="10413997">
                <a:moveTo>
                  <a:pt x="0" y="0"/>
                </a:moveTo>
                <a:lnTo>
                  <a:pt x="18414997" y="0"/>
                </a:lnTo>
                <a:lnTo>
                  <a:pt x="18414997" y="10413997"/>
                </a:lnTo>
                <a:lnTo>
                  <a:pt x="0" y="10413997"/>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5" name="TextBox 5"/>
          <p:cNvSpPr txBox="1"/>
          <p:nvPr/>
        </p:nvSpPr>
        <p:spPr>
          <a:xfrm>
            <a:off x="3544091" y="963197"/>
            <a:ext cx="6036354" cy="334118"/>
          </a:xfrm>
          <a:prstGeom prst="rect">
            <a:avLst/>
          </a:prstGeom>
        </p:spPr>
        <p:txBody>
          <a:bodyPr lIns="0" tIns="0" rIns="0" bIns="0" rtlCol="0" anchor="t">
            <a:spAutoFit/>
          </a:bodyPr>
          <a:lstStyle/>
          <a:p>
            <a:pPr algn="l">
              <a:lnSpc>
                <a:spcPts val="2520"/>
              </a:lnSpc>
            </a:pPr>
            <a:r>
              <a:rPr lang="en-US" sz="1800" spc="363">
                <a:solidFill>
                  <a:srgbClr val="111111"/>
                </a:solidFill>
                <a:latin typeface="Work Sans"/>
                <a:ea typeface="Work Sans"/>
                <a:cs typeface="Work Sans"/>
                <a:sym typeface="Work Sans"/>
              </a:rPr>
              <a:t>SHIPMENT COMPLETION PERFORMANCE</a:t>
            </a:r>
          </a:p>
        </p:txBody>
      </p:sp>
      <p:sp>
        <p:nvSpPr>
          <p:cNvPr id="6" name="TextBox 6"/>
          <p:cNvSpPr txBox="1"/>
          <p:nvPr/>
        </p:nvSpPr>
        <p:spPr>
          <a:xfrm>
            <a:off x="14001750" y="896522"/>
            <a:ext cx="3054086" cy="3905822"/>
          </a:xfrm>
          <a:prstGeom prst="rect">
            <a:avLst/>
          </a:prstGeom>
        </p:spPr>
        <p:txBody>
          <a:bodyPr lIns="0" tIns="0" rIns="0" bIns="0" rtlCol="0" anchor="t">
            <a:spAutoFit/>
          </a:bodyPr>
          <a:lstStyle/>
          <a:p>
            <a:pPr algn="l">
              <a:lnSpc>
                <a:spcPts val="3232"/>
              </a:lnSpc>
            </a:pPr>
            <a:r>
              <a:rPr lang="en-US" sz="1800" spc="329">
                <a:solidFill>
                  <a:srgbClr val="111111"/>
                </a:solidFill>
                <a:latin typeface="Work Sans"/>
                <a:ea typeface="Work Sans"/>
                <a:cs typeface="Work Sans"/>
                <a:sym typeface="Work Sans"/>
              </a:rPr>
              <a:t>ABOUT THE DATA</a:t>
            </a:r>
          </a:p>
          <a:p>
            <a:pPr algn="l">
              <a:lnSpc>
                <a:spcPts val="3771"/>
              </a:lnSpc>
            </a:pPr>
            <a:r>
              <a:rPr lang="en-US" sz="2100">
                <a:solidFill>
                  <a:srgbClr val="111111"/>
                </a:solidFill>
                <a:latin typeface="Noto Serif Japanese Extra-Light"/>
                <a:ea typeface="Noto Serif Japanese Extra-Light"/>
                <a:cs typeface="Noto Serif Japanese Extra-Light"/>
                <a:sym typeface="Noto Serif Japanese Extra-Light"/>
              </a:rPr>
              <a:t>59.67% of orders (6.56K) were delayed, while 40.33% (4.44K) arrived on time — delivery reliability is the biggest operational gap.</a:t>
            </a:r>
          </a:p>
        </p:txBody>
      </p:sp>
      <p:sp>
        <p:nvSpPr>
          <p:cNvPr id="7" name="TextBox 7"/>
          <p:cNvSpPr txBox="1"/>
          <p:nvPr/>
        </p:nvSpPr>
        <p:spPr>
          <a:xfrm>
            <a:off x="2086356" y="3822392"/>
            <a:ext cx="1062971" cy="600694"/>
          </a:xfrm>
          <a:prstGeom prst="rect">
            <a:avLst/>
          </a:prstGeom>
        </p:spPr>
        <p:txBody>
          <a:bodyPr lIns="0" tIns="0" rIns="0" bIns="0" rtlCol="0" anchor="t">
            <a:spAutoFit/>
          </a:bodyPr>
          <a:lstStyle/>
          <a:p>
            <a:pPr algn="r">
              <a:lnSpc>
                <a:spcPts val="2300"/>
              </a:lnSpc>
            </a:pPr>
            <a:r>
              <a:rPr lang="en-US" sz="2099">
                <a:solidFill>
                  <a:srgbClr val="111111"/>
                </a:solidFill>
                <a:latin typeface="Work Sans"/>
                <a:ea typeface="Work Sans"/>
                <a:cs typeface="Work Sans"/>
                <a:sym typeface="Work Sans"/>
              </a:rPr>
              <a:t>On time 4440</a:t>
            </a:r>
          </a:p>
        </p:txBody>
      </p:sp>
      <p:sp>
        <p:nvSpPr>
          <p:cNvPr id="8" name="TextBox 8"/>
          <p:cNvSpPr txBox="1"/>
          <p:nvPr/>
        </p:nvSpPr>
        <p:spPr>
          <a:xfrm>
            <a:off x="9925374" y="5917873"/>
            <a:ext cx="1044902" cy="600694"/>
          </a:xfrm>
          <a:prstGeom prst="rect">
            <a:avLst/>
          </a:prstGeom>
        </p:spPr>
        <p:txBody>
          <a:bodyPr lIns="0" tIns="0" rIns="0" bIns="0" rtlCol="0" anchor="t">
            <a:spAutoFit/>
          </a:bodyPr>
          <a:lstStyle/>
          <a:p>
            <a:pPr algn="l">
              <a:lnSpc>
                <a:spcPts val="2300"/>
              </a:lnSpc>
            </a:pPr>
            <a:r>
              <a:rPr lang="en-US" sz="2099">
                <a:solidFill>
                  <a:srgbClr val="111111"/>
                </a:solidFill>
                <a:latin typeface="Work Sans"/>
                <a:ea typeface="Work Sans"/>
                <a:cs typeface="Work Sans"/>
                <a:sym typeface="Work Sans"/>
              </a:rPr>
              <a:t>Delayed 6560</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63499" y="-63499"/>
            <a:ext cx="18414997" cy="10413997"/>
          </a:xfrm>
          <a:custGeom>
            <a:avLst/>
            <a:gdLst/>
            <a:ahLst/>
            <a:cxnLst/>
            <a:rect l="l" t="t" r="r" b="b"/>
            <a:pathLst>
              <a:path w="18414997" h="10413997">
                <a:moveTo>
                  <a:pt x="0" y="0"/>
                </a:moveTo>
                <a:lnTo>
                  <a:pt x="18414997" y="0"/>
                </a:lnTo>
                <a:lnTo>
                  <a:pt x="18414997" y="10413997"/>
                </a:lnTo>
                <a:lnTo>
                  <a:pt x="0" y="10413997"/>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dirty="0"/>
          </a:p>
        </p:txBody>
      </p:sp>
      <p:sp>
        <p:nvSpPr>
          <p:cNvPr id="5" name="TextBox 5"/>
          <p:cNvSpPr txBox="1"/>
          <p:nvPr/>
        </p:nvSpPr>
        <p:spPr>
          <a:xfrm>
            <a:off x="4413514" y="9033672"/>
            <a:ext cx="9654645" cy="294568"/>
          </a:xfrm>
          <a:prstGeom prst="rect">
            <a:avLst/>
          </a:prstGeom>
        </p:spPr>
        <p:txBody>
          <a:bodyPr lIns="0" tIns="0" rIns="0" bIns="0" rtlCol="0" anchor="t">
            <a:spAutoFit/>
          </a:bodyPr>
          <a:lstStyle/>
          <a:p>
            <a:pPr algn="l">
              <a:lnSpc>
                <a:spcPts val="2520"/>
              </a:lnSpc>
            </a:pPr>
            <a:r>
              <a:rPr lang="en-US" dirty="0">
                <a:solidFill>
                  <a:srgbClr val="444444"/>
                </a:solidFill>
                <a:latin typeface="Times New Roman" panose="02020603050405020304" pitchFamily="18" charset="0"/>
                <a:ea typeface="Noto Serif Japanese Extra-Light"/>
                <a:cs typeface="Times New Roman" panose="02020603050405020304" pitchFamily="18" charset="0"/>
                <a:sym typeface="Noto Serif Japanese Extra-Light"/>
              </a:rPr>
              <a:t>Ship is by far the most used mode; Flight and Road are roughly equal (approx. values)</a:t>
            </a:r>
          </a:p>
        </p:txBody>
      </p:sp>
      <p:sp>
        <p:nvSpPr>
          <p:cNvPr id="6" name="TextBox 6"/>
          <p:cNvSpPr txBox="1"/>
          <p:nvPr/>
        </p:nvSpPr>
        <p:spPr>
          <a:xfrm>
            <a:off x="6687264" y="963197"/>
            <a:ext cx="4959725" cy="334118"/>
          </a:xfrm>
          <a:prstGeom prst="rect">
            <a:avLst/>
          </a:prstGeom>
        </p:spPr>
        <p:txBody>
          <a:bodyPr lIns="0" tIns="0" rIns="0" bIns="0" rtlCol="0" anchor="t">
            <a:spAutoFit/>
          </a:bodyPr>
          <a:lstStyle/>
          <a:p>
            <a:pPr algn="l">
              <a:lnSpc>
                <a:spcPts val="2520"/>
              </a:lnSpc>
            </a:pPr>
            <a:r>
              <a:rPr lang="en-US" sz="1800" spc="358">
                <a:solidFill>
                  <a:srgbClr val="111111"/>
                </a:solidFill>
                <a:latin typeface="Work Sans"/>
                <a:ea typeface="Work Sans"/>
                <a:cs typeface="Work Sans"/>
                <a:sym typeface="Work Sans"/>
              </a:rPr>
              <a:t>PREFERRED MODE OF SHIPMENT</a:t>
            </a:r>
          </a:p>
        </p:txBody>
      </p:sp>
      <p:sp>
        <p:nvSpPr>
          <p:cNvPr id="7" name="TextBox 7"/>
          <p:cNvSpPr txBox="1"/>
          <p:nvPr/>
        </p:nvSpPr>
        <p:spPr>
          <a:xfrm>
            <a:off x="2598620" y="3078574"/>
            <a:ext cx="653710" cy="249812"/>
          </a:xfrm>
          <a:prstGeom prst="rect">
            <a:avLst/>
          </a:prstGeom>
        </p:spPr>
        <p:txBody>
          <a:bodyPr wrap="square" lIns="0" tIns="0" rIns="0" bIns="0" rtlCol="0" anchor="t">
            <a:spAutoFit/>
          </a:bodyPr>
          <a:lstStyle/>
          <a:p>
            <a:pPr algn="l">
              <a:lnSpc>
                <a:spcPts val="2098"/>
              </a:lnSpc>
            </a:pPr>
            <a:r>
              <a:rPr lang="en-US" sz="1499" dirty="0">
                <a:solidFill>
                  <a:srgbClr val="111111"/>
                </a:solidFill>
                <a:latin typeface="Work Sans"/>
                <a:ea typeface="Work Sans"/>
                <a:cs typeface="Work Sans"/>
                <a:sym typeface="Work Sans"/>
              </a:rPr>
              <a:t>8000</a:t>
            </a:r>
          </a:p>
        </p:txBody>
      </p:sp>
      <p:sp>
        <p:nvSpPr>
          <p:cNvPr id="8" name="TextBox 8"/>
          <p:cNvSpPr txBox="1"/>
          <p:nvPr/>
        </p:nvSpPr>
        <p:spPr>
          <a:xfrm>
            <a:off x="2598620" y="4199373"/>
            <a:ext cx="653710" cy="249812"/>
          </a:xfrm>
          <a:prstGeom prst="rect">
            <a:avLst/>
          </a:prstGeom>
        </p:spPr>
        <p:txBody>
          <a:bodyPr wrap="square" lIns="0" tIns="0" rIns="0" bIns="0" rtlCol="0" anchor="t">
            <a:spAutoFit/>
          </a:bodyPr>
          <a:lstStyle/>
          <a:p>
            <a:pPr algn="l">
              <a:lnSpc>
                <a:spcPts val="2098"/>
              </a:lnSpc>
            </a:pPr>
            <a:r>
              <a:rPr lang="en-US" sz="1499" dirty="0">
                <a:solidFill>
                  <a:srgbClr val="111111"/>
                </a:solidFill>
                <a:latin typeface="Work Sans"/>
                <a:ea typeface="Work Sans"/>
                <a:cs typeface="Work Sans"/>
                <a:sym typeface="Work Sans"/>
              </a:rPr>
              <a:t>6000</a:t>
            </a:r>
          </a:p>
        </p:txBody>
      </p:sp>
      <p:sp>
        <p:nvSpPr>
          <p:cNvPr id="9" name="TextBox 9"/>
          <p:cNvSpPr txBox="1"/>
          <p:nvPr/>
        </p:nvSpPr>
        <p:spPr>
          <a:xfrm>
            <a:off x="2598620" y="5289194"/>
            <a:ext cx="653710" cy="249812"/>
          </a:xfrm>
          <a:prstGeom prst="rect">
            <a:avLst/>
          </a:prstGeom>
        </p:spPr>
        <p:txBody>
          <a:bodyPr wrap="square" lIns="0" tIns="0" rIns="0" bIns="0" rtlCol="0" anchor="t">
            <a:spAutoFit/>
          </a:bodyPr>
          <a:lstStyle/>
          <a:p>
            <a:pPr algn="l">
              <a:lnSpc>
                <a:spcPts val="2098"/>
              </a:lnSpc>
            </a:pPr>
            <a:r>
              <a:rPr lang="en-US" sz="1499" dirty="0">
                <a:solidFill>
                  <a:srgbClr val="111111"/>
                </a:solidFill>
                <a:latin typeface="Work Sans"/>
                <a:ea typeface="Work Sans"/>
                <a:cs typeface="Work Sans"/>
                <a:sym typeface="Work Sans"/>
              </a:rPr>
              <a:t>4000</a:t>
            </a:r>
          </a:p>
        </p:txBody>
      </p:sp>
      <p:sp>
        <p:nvSpPr>
          <p:cNvPr id="10" name="TextBox 10"/>
          <p:cNvSpPr txBox="1"/>
          <p:nvPr/>
        </p:nvSpPr>
        <p:spPr>
          <a:xfrm>
            <a:off x="2781776" y="6394494"/>
            <a:ext cx="470554" cy="265300"/>
          </a:xfrm>
          <a:prstGeom prst="rect">
            <a:avLst/>
          </a:prstGeom>
        </p:spPr>
        <p:txBody>
          <a:bodyPr lIns="0" tIns="0" rIns="0" bIns="0" rtlCol="0" anchor="t">
            <a:spAutoFit/>
          </a:bodyPr>
          <a:lstStyle/>
          <a:p>
            <a:pPr algn="l">
              <a:lnSpc>
                <a:spcPts val="2098"/>
              </a:lnSpc>
            </a:pPr>
            <a:r>
              <a:rPr lang="en-US" sz="1499">
                <a:solidFill>
                  <a:srgbClr val="111111"/>
                </a:solidFill>
                <a:latin typeface="Work Sans"/>
                <a:ea typeface="Work Sans"/>
                <a:cs typeface="Work Sans"/>
                <a:sym typeface="Work Sans"/>
              </a:rPr>
              <a:t>2000</a:t>
            </a:r>
          </a:p>
        </p:txBody>
      </p:sp>
      <p:sp>
        <p:nvSpPr>
          <p:cNvPr id="11" name="TextBox 11"/>
          <p:cNvSpPr txBox="1"/>
          <p:nvPr/>
        </p:nvSpPr>
        <p:spPr>
          <a:xfrm>
            <a:off x="3124676" y="7499804"/>
            <a:ext cx="120796" cy="265300"/>
          </a:xfrm>
          <a:prstGeom prst="rect">
            <a:avLst/>
          </a:prstGeom>
        </p:spPr>
        <p:txBody>
          <a:bodyPr lIns="0" tIns="0" rIns="0" bIns="0" rtlCol="0" anchor="t">
            <a:spAutoFit/>
          </a:bodyPr>
          <a:lstStyle/>
          <a:p>
            <a:pPr algn="l">
              <a:lnSpc>
                <a:spcPts val="2098"/>
              </a:lnSpc>
            </a:pPr>
            <a:r>
              <a:rPr lang="en-US" sz="1499">
                <a:solidFill>
                  <a:srgbClr val="111111"/>
                </a:solidFill>
                <a:latin typeface="Work Sans"/>
                <a:ea typeface="Work Sans"/>
                <a:cs typeface="Work Sans"/>
                <a:sym typeface="Work Sans"/>
              </a:rPr>
              <a:t>0</a:t>
            </a:r>
          </a:p>
        </p:txBody>
      </p:sp>
      <p:sp>
        <p:nvSpPr>
          <p:cNvPr id="12" name="TextBox 12"/>
          <p:cNvSpPr txBox="1"/>
          <p:nvPr/>
        </p:nvSpPr>
        <p:spPr>
          <a:xfrm>
            <a:off x="5129641" y="7770152"/>
            <a:ext cx="413233" cy="265300"/>
          </a:xfrm>
          <a:prstGeom prst="rect">
            <a:avLst/>
          </a:prstGeom>
        </p:spPr>
        <p:txBody>
          <a:bodyPr lIns="0" tIns="0" rIns="0" bIns="0" rtlCol="0" anchor="t">
            <a:spAutoFit/>
          </a:bodyPr>
          <a:lstStyle/>
          <a:p>
            <a:pPr algn="l">
              <a:lnSpc>
                <a:spcPts val="2098"/>
              </a:lnSpc>
            </a:pPr>
            <a:r>
              <a:rPr lang="en-US" sz="1499">
                <a:solidFill>
                  <a:srgbClr val="111111"/>
                </a:solidFill>
                <a:latin typeface="Work Sans"/>
                <a:ea typeface="Work Sans"/>
                <a:cs typeface="Work Sans"/>
                <a:sym typeface="Work Sans"/>
              </a:rPr>
              <a:t>Ship</a:t>
            </a:r>
          </a:p>
        </p:txBody>
      </p:sp>
      <p:sp>
        <p:nvSpPr>
          <p:cNvPr id="13" name="TextBox 13"/>
          <p:cNvSpPr txBox="1"/>
          <p:nvPr/>
        </p:nvSpPr>
        <p:spPr>
          <a:xfrm>
            <a:off x="8887177" y="7770151"/>
            <a:ext cx="714023" cy="249812"/>
          </a:xfrm>
          <a:prstGeom prst="rect">
            <a:avLst/>
          </a:prstGeom>
        </p:spPr>
        <p:txBody>
          <a:bodyPr wrap="square" lIns="0" tIns="0" rIns="0" bIns="0" rtlCol="0" anchor="t">
            <a:spAutoFit/>
          </a:bodyPr>
          <a:lstStyle/>
          <a:p>
            <a:pPr algn="l">
              <a:lnSpc>
                <a:spcPts val="2098"/>
              </a:lnSpc>
            </a:pPr>
            <a:r>
              <a:rPr lang="en-US" sz="1499" dirty="0">
                <a:solidFill>
                  <a:srgbClr val="111111"/>
                </a:solidFill>
                <a:latin typeface="Work Sans"/>
                <a:ea typeface="Work Sans"/>
                <a:cs typeface="Work Sans"/>
                <a:sym typeface="Work Sans"/>
              </a:rPr>
              <a:t>Flight</a:t>
            </a:r>
          </a:p>
        </p:txBody>
      </p:sp>
      <p:sp>
        <p:nvSpPr>
          <p:cNvPr id="14" name="TextBox 14"/>
          <p:cNvSpPr txBox="1"/>
          <p:nvPr/>
        </p:nvSpPr>
        <p:spPr>
          <a:xfrm>
            <a:off x="12720914" y="7770152"/>
            <a:ext cx="471526" cy="265300"/>
          </a:xfrm>
          <a:prstGeom prst="rect">
            <a:avLst/>
          </a:prstGeom>
        </p:spPr>
        <p:txBody>
          <a:bodyPr lIns="0" tIns="0" rIns="0" bIns="0" rtlCol="0" anchor="t">
            <a:spAutoFit/>
          </a:bodyPr>
          <a:lstStyle/>
          <a:p>
            <a:pPr algn="l">
              <a:lnSpc>
                <a:spcPts val="2098"/>
              </a:lnSpc>
            </a:pPr>
            <a:r>
              <a:rPr lang="en-US" sz="1499">
                <a:solidFill>
                  <a:srgbClr val="111111"/>
                </a:solidFill>
                <a:latin typeface="Work Sans"/>
                <a:ea typeface="Work Sans"/>
                <a:cs typeface="Work Sans"/>
                <a:sym typeface="Work Sans"/>
              </a:rPr>
              <a:t>Road</a:t>
            </a:r>
          </a:p>
        </p:txBody>
      </p:sp>
      <p:sp>
        <p:nvSpPr>
          <p:cNvPr id="15" name="TextBox 15"/>
          <p:cNvSpPr txBox="1"/>
          <p:nvPr/>
        </p:nvSpPr>
        <p:spPr>
          <a:xfrm>
            <a:off x="4953001" y="3131058"/>
            <a:ext cx="653710" cy="297774"/>
          </a:xfrm>
          <a:prstGeom prst="rect">
            <a:avLst/>
          </a:prstGeom>
        </p:spPr>
        <p:txBody>
          <a:bodyPr wrap="square" lIns="0" tIns="0" rIns="0" bIns="0" rtlCol="0" anchor="t">
            <a:spAutoFit/>
          </a:bodyPr>
          <a:lstStyle/>
          <a:p>
            <a:pPr algn="l">
              <a:lnSpc>
                <a:spcPts val="2518"/>
              </a:lnSpc>
            </a:pPr>
            <a:r>
              <a:rPr lang="en-US" sz="1799" dirty="0">
                <a:solidFill>
                  <a:srgbClr val="111111"/>
                </a:solidFill>
                <a:latin typeface="Work Sans"/>
                <a:ea typeface="Work Sans"/>
                <a:cs typeface="Work Sans"/>
                <a:sym typeface="Work Sans"/>
              </a:rPr>
              <a:t>7462</a:t>
            </a:r>
          </a:p>
        </p:txBody>
      </p:sp>
      <p:sp>
        <p:nvSpPr>
          <p:cNvPr id="16" name="TextBox 16"/>
          <p:cNvSpPr txBox="1"/>
          <p:nvPr/>
        </p:nvSpPr>
        <p:spPr>
          <a:xfrm>
            <a:off x="8858269" y="6204071"/>
            <a:ext cx="528285" cy="297774"/>
          </a:xfrm>
          <a:prstGeom prst="rect">
            <a:avLst/>
          </a:prstGeom>
        </p:spPr>
        <p:txBody>
          <a:bodyPr wrap="square" lIns="0" tIns="0" rIns="0" bIns="0" rtlCol="0" anchor="t">
            <a:spAutoFit/>
          </a:bodyPr>
          <a:lstStyle/>
          <a:p>
            <a:pPr algn="l">
              <a:lnSpc>
                <a:spcPts val="2518"/>
              </a:lnSpc>
            </a:pPr>
            <a:r>
              <a:rPr lang="en-US" sz="1799" dirty="0">
                <a:solidFill>
                  <a:srgbClr val="111111"/>
                </a:solidFill>
                <a:latin typeface="Work Sans"/>
                <a:ea typeface="Work Sans"/>
                <a:cs typeface="Work Sans"/>
                <a:sym typeface="Work Sans"/>
              </a:rPr>
              <a:t>1777</a:t>
            </a:r>
          </a:p>
        </p:txBody>
      </p:sp>
      <p:sp>
        <p:nvSpPr>
          <p:cNvPr id="17" name="TextBox 17"/>
          <p:cNvSpPr txBox="1"/>
          <p:nvPr/>
        </p:nvSpPr>
        <p:spPr>
          <a:xfrm>
            <a:off x="12706626" y="6227293"/>
            <a:ext cx="504444" cy="320288"/>
          </a:xfrm>
          <a:prstGeom prst="rect">
            <a:avLst/>
          </a:prstGeom>
        </p:spPr>
        <p:txBody>
          <a:bodyPr lIns="0" tIns="0" rIns="0" bIns="0" rtlCol="0" anchor="t">
            <a:spAutoFit/>
          </a:bodyPr>
          <a:lstStyle/>
          <a:p>
            <a:pPr algn="l">
              <a:lnSpc>
                <a:spcPts val="2518"/>
              </a:lnSpc>
            </a:pPr>
            <a:r>
              <a:rPr lang="en-US" sz="1799" dirty="0">
                <a:solidFill>
                  <a:srgbClr val="111111"/>
                </a:solidFill>
                <a:latin typeface="Work Sans"/>
                <a:ea typeface="Work Sans"/>
                <a:cs typeface="Work Sans"/>
                <a:sym typeface="Work Sans"/>
              </a:rPr>
              <a:t>1760</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26997" y="-63499"/>
            <a:ext cx="18414997" cy="10413997"/>
          </a:xfrm>
          <a:custGeom>
            <a:avLst/>
            <a:gdLst/>
            <a:ahLst/>
            <a:cxnLst/>
            <a:rect l="l" t="t" r="r" b="b"/>
            <a:pathLst>
              <a:path w="18414997" h="10413997">
                <a:moveTo>
                  <a:pt x="0" y="0"/>
                </a:moveTo>
                <a:lnTo>
                  <a:pt x="18414997" y="0"/>
                </a:lnTo>
                <a:lnTo>
                  <a:pt x="18414997" y="10413997"/>
                </a:lnTo>
                <a:lnTo>
                  <a:pt x="0" y="10413997"/>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5" name="TextBox 5"/>
          <p:cNvSpPr txBox="1"/>
          <p:nvPr/>
        </p:nvSpPr>
        <p:spPr>
          <a:xfrm>
            <a:off x="4985014" y="9033672"/>
            <a:ext cx="8488785" cy="300531"/>
          </a:xfrm>
          <a:prstGeom prst="rect">
            <a:avLst/>
          </a:prstGeom>
        </p:spPr>
        <p:txBody>
          <a:bodyPr lIns="0" tIns="0" rIns="0" bIns="0" rtlCol="0" anchor="t">
            <a:spAutoFit/>
          </a:bodyPr>
          <a:lstStyle/>
          <a:p>
            <a:pPr algn="l">
              <a:lnSpc>
                <a:spcPts val="2520"/>
              </a:lnSpc>
            </a:pPr>
            <a:r>
              <a:rPr lang="en-US" sz="2000">
                <a:solidFill>
                  <a:srgbClr val="252525"/>
                </a:solidFill>
                <a:latin typeface="Times New Roman" panose="02020603050405020304" pitchFamily="18" charset="0"/>
                <a:ea typeface="Noto Serif Japanese Extra-Light"/>
                <a:cs typeface="Times New Roman" panose="02020603050405020304" pitchFamily="18" charset="0"/>
                <a:sym typeface="Noto Serif Japanese Extra-Light"/>
              </a:rPr>
              <a:t>Block E handles about twice the volume of any other block (approx. </a:t>
            </a:r>
            <a:r>
              <a:rPr lang="en-US" sz="2000" dirty="0">
                <a:solidFill>
                  <a:srgbClr val="252525"/>
                </a:solidFill>
                <a:latin typeface="Times New Roman" panose="02020603050405020304" pitchFamily="18" charset="0"/>
                <a:ea typeface="Noto Serif Japanese Extra-Light"/>
                <a:cs typeface="Times New Roman" panose="02020603050405020304" pitchFamily="18" charset="0"/>
                <a:sym typeface="Noto Serif Japanese Extra-Light"/>
              </a:rPr>
              <a:t>values)</a:t>
            </a:r>
          </a:p>
        </p:txBody>
      </p:sp>
      <p:sp>
        <p:nvSpPr>
          <p:cNvPr id="6" name="TextBox 6"/>
          <p:cNvSpPr txBox="1"/>
          <p:nvPr/>
        </p:nvSpPr>
        <p:spPr>
          <a:xfrm>
            <a:off x="7111127" y="963197"/>
            <a:ext cx="4102970" cy="334118"/>
          </a:xfrm>
          <a:prstGeom prst="rect">
            <a:avLst/>
          </a:prstGeom>
        </p:spPr>
        <p:txBody>
          <a:bodyPr lIns="0" tIns="0" rIns="0" bIns="0" rtlCol="0" anchor="t">
            <a:spAutoFit/>
          </a:bodyPr>
          <a:lstStyle/>
          <a:p>
            <a:pPr algn="l">
              <a:lnSpc>
                <a:spcPts val="2520"/>
              </a:lnSpc>
            </a:pPr>
            <a:r>
              <a:rPr lang="en-US" sz="1800" spc="342">
                <a:solidFill>
                  <a:srgbClr val="111111"/>
                </a:solidFill>
                <a:latin typeface="Work Sans"/>
                <a:ea typeface="Work Sans"/>
                <a:cs typeface="Work Sans"/>
                <a:sym typeface="Work Sans"/>
              </a:rPr>
              <a:t>WAREHOUSE BLOCK USAGE</a:t>
            </a:r>
          </a:p>
        </p:txBody>
      </p:sp>
      <p:sp>
        <p:nvSpPr>
          <p:cNvPr id="7" name="TextBox 7"/>
          <p:cNvSpPr txBox="1"/>
          <p:nvPr/>
        </p:nvSpPr>
        <p:spPr>
          <a:xfrm>
            <a:off x="2505551" y="4406665"/>
            <a:ext cx="752104" cy="265300"/>
          </a:xfrm>
          <a:prstGeom prst="rect">
            <a:avLst/>
          </a:prstGeom>
        </p:spPr>
        <p:txBody>
          <a:bodyPr lIns="0" tIns="0" rIns="0" bIns="0" rtlCol="0" anchor="t">
            <a:spAutoFit/>
          </a:bodyPr>
          <a:lstStyle/>
          <a:p>
            <a:pPr algn="l">
              <a:lnSpc>
                <a:spcPts val="2098"/>
              </a:lnSpc>
            </a:pPr>
            <a:r>
              <a:rPr lang="en-US" sz="1499">
                <a:solidFill>
                  <a:srgbClr val="111111"/>
                </a:solidFill>
                <a:latin typeface="Work Sans"/>
                <a:ea typeface="Work Sans"/>
                <a:cs typeface="Work Sans"/>
                <a:sym typeface="Work Sans"/>
              </a:rPr>
              <a:t>Block_D</a:t>
            </a:r>
          </a:p>
        </p:txBody>
      </p:sp>
      <p:sp>
        <p:nvSpPr>
          <p:cNvPr id="8" name="TextBox 8"/>
          <p:cNvSpPr txBox="1"/>
          <p:nvPr/>
        </p:nvSpPr>
        <p:spPr>
          <a:xfrm>
            <a:off x="2505551" y="7059397"/>
            <a:ext cx="745303" cy="265300"/>
          </a:xfrm>
          <a:prstGeom prst="rect">
            <a:avLst/>
          </a:prstGeom>
        </p:spPr>
        <p:txBody>
          <a:bodyPr lIns="0" tIns="0" rIns="0" bIns="0" rtlCol="0" anchor="t">
            <a:spAutoFit/>
          </a:bodyPr>
          <a:lstStyle/>
          <a:p>
            <a:pPr algn="l">
              <a:lnSpc>
                <a:spcPts val="2098"/>
              </a:lnSpc>
            </a:pPr>
            <a:r>
              <a:rPr lang="en-US" sz="1499">
                <a:solidFill>
                  <a:srgbClr val="111111"/>
                </a:solidFill>
                <a:latin typeface="Work Sans"/>
                <a:ea typeface="Work Sans"/>
                <a:cs typeface="Work Sans"/>
                <a:sym typeface="Work Sans"/>
              </a:rPr>
              <a:t>Block_C</a:t>
            </a:r>
          </a:p>
        </p:txBody>
      </p:sp>
      <p:sp>
        <p:nvSpPr>
          <p:cNvPr id="9" name="TextBox 9"/>
          <p:cNvSpPr txBox="1"/>
          <p:nvPr/>
        </p:nvSpPr>
        <p:spPr>
          <a:xfrm>
            <a:off x="2515076" y="5290909"/>
            <a:ext cx="740254" cy="265300"/>
          </a:xfrm>
          <a:prstGeom prst="rect">
            <a:avLst/>
          </a:prstGeom>
        </p:spPr>
        <p:txBody>
          <a:bodyPr lIns="0" tIns="0" rIns="0" bIns="0" rtlCol="0" anchor="t">
            <a:spAutoFit/>
          </a:bodyPr>
          <a:lstStyle/>
          <a:p>
            <a:pPr algn="l">
              <a:lnSpc>
                <a:spcPts val="2098"/>
              </a:lnSpc>
            </a:pPr>
            <a:r>
              <a:rPr lang="en-US" sz="1499">
                <a:solidFill>
                  <a:srgbClr val="111111"/>
                </a:solidFill>
                <a:latin typeface="Work Sans"/>
                <a:ea typeface="Work Sans"/>
                <a:cs typeface="Work Sans"/>
                <a:sym typeface="Work Sans"/>
              </a:rPr>
              <a:t>Block_A</a:t>
            </a:r>
          </a:p>
        </p:txBody>
      </p:sp>
      <p:sp>
        <p:nvSpPr>
          <p:cNvPr id="10" name="TextBox 10"/>
          <p:cNvSpPr txBox="1"/>
          <p:nvPr/>
        </p:nvSpPr>
        <p:spPr>
          <a:xfrm>
            <a:off x="2515076" y="6175153"/>
            <a:ext cx="738902" cy="265300"/>
          </a:xfrm>
          <a:prstGeom prst="rect">
            <a:avLst/>
          </a:prstGeom>
        </p:spPr>
        <p:txBody>
          <a:bodyPr lIns="0" tIns="0" rIns="0" bIns="0" rtlCol="0" anchor="t">
            <a:spAutoFit/>
          </a:bodyPr>
          <a:lstStyle/>
          <a:p>
            <a:pPr algn="l">
              <a:lnSpc>
                <a:spcPts val="2098"/>
              </a:lnSpc>
            </a:pPr>
            <a:r>
              <a:rPr lang="en-US" sz="1499">
                <a:solidFill>
                  <a:srgbClr val="111111"/>
                </a:solidFill>
                <a:latin typeface="Work Sans"/>
                <a:ea typeface="Work Sans"/>
                <a:cs typeface="Work Sans"/>
                <a:sym typeface="Work Sans"/>
              </a:rPr>
              <a:t>Block_B</a:t>
            </a:r>
          </a:p>
        </p:txBody>
      </p:sp>
      <p:sp>
        <p:nvSpPr>
          <p:cNvPr id="11" name="TextBox 11"/>
          <p:cNvSpPr txBox="1"/>
          <p:nvPr/>
        </p:nvSpPr>
        <p:spPr>
          <a:xfrm>
            <a:off x="2362201" y="3485293"/>
            <a:ext cx="745303" cy="249812"/>
          </a:xfrm>
          <a:prstGeom prst="rect">
            <a:avLst/>
          </a:prstGeom>
        </p:spPr>
        <p:txBody>
          <a:bodyPr wrap="square" lIns="0" tIns="0" rIns="0" bIns="0" rtlCol="0" anchor="t">
            <a:spAutoFit/>
          </a:bodyPr>
          <a:lstStyle/>
          <a:p>
            <a:pPr algn="l">
              <a:lnSpc>
                <a:spcPts val="2098"/>
              </a:lnSpc>
            </a:pPr>
            <a:r>
              <a:rPr lang="en-US" sz="1499" dirty="0" err="1">
                <a:solidFill>
                  <a:srgbClr val="111111"/>
                </a:solidFill>
                <a:latin typeface="Work Sans"/>
                <a:ea typeface="Work Sans"/>
                <a:cs typeface="Work Sans"/>
                <a:sym typeface="Work Sans"/>
              </a:rPr>
              <a:t>Block_E</a:t>
            </a:r>
            <a:endParaRPr lang="en-US" sz="1499" dirty="0">
              <a:solidFill>
                <a:srgbClr val="111111"/>
              </a:solidFill>
              <a:latin typeface="Work Sans"/>
              <a:ea typeface="Work Sans"/>
              <a:cs typeface="Work Sans"/>
              <a:sym typeface="Work Sans"/>
            </a:endParaRPr>
          </a:p>
        </p:txBody>
      </p:sp>
      <p:sp>
        <p:nvSpPr>
          <p:cNvPr id="12" name="TextBox 12"/>
          <p:cNvSpPr txBox="1"/>
          <p:nvPr/>
        </p:nvSpPr>
        <p:spPr>
          <a:xfrm>
            <a:off x="3372317" y="7770152"/>
            <a:ext cx="120796" cy="265300"/>
          </a:xfrm>
          <a:prstGeom prst="rect">
            <a:avLst/>
          </a:prstGeom>
        </p:spPr>
        <p:txBody>
          <a:bodyPr lIns="0" tIns="0" rIns="0" bIns="0" rtlCol="0" anchor="t">
            <a:spAutoFit/>
          </a:bodyPr>
          <a:lstStyle/>
          <a:p>
            <a:pPr algn="l">
              <a:lnSpc>
                <a:spcPts val="2098"/>
              </a:lnSpc>
            </a:pPr>
            <a:r>
              <a:rPr lang="en-US" sz="1499">
                <a:solidFill>
                  <a:srgbClr val="111111"/>
                </a:solidFill>
                <a:latin typeface="Work Sans"/>
                <a:ea typeface="Work Sans"/>
                <a:cs typeface="Work Sans"/>
                <a:sym typeface="Work Sans"/>
              </a:rPr>
              <a:t>0</a:t>
            </a:r>
          </a:p>
        </p:txBody>
      </p:sp>
      <p:sp>
        <p:nvSpPr>
          <p:cNvPr id="13" name="TextBox 13"/>
          <p:cNvSpPr txBox="1"/>
          <p:nvPr/>
        </p:nvSpPr>
        <p:spPr>
          <a:xfrm>
            <a:off x="6038498" y="7770152"/>
            <a:ext cx="470554" cy="249812"/>
          </a:xfrm>
          <a:prstGeom prst="rect">
            <a:avLst/>
          </a:prstGeom>
        </p:spPr>
        <p:txBody>
          <a:bodyPr wrap="square" lIns="0" tIns="0" rIns="0" bIns="0" rtlCol="0" anchor="t">
            <a:spAutoFit/>
          </a:bodyPr>
          <a:lstStyle/>
          <a:p>
            <a:pPr algn="l">
              <a:lnSpc>
                <a:spcPts val="2098"/>
              </a:lnSpc>
            </a:pPr>
            <a:r>
              <a:rPr lang="en-US" sz="1499" dirty="0">
                <a:solidFill>
                  <a:srgbClr val="111111"/>
                </a:solidFill>
                <a:latin typeface="Work Sans"/>
                <a:ea typeface="Work Sans"/>
                <a:cs typeface="Work Sans"/>
                <a:sym typeface="Work Sans"/>
              </a:rPr>
              <a:t>1000</a:t>
            </a:r>
          </a:p>
        </p:txBody>
      </p:sp>
      <p:sp>
        <p:nvSpPr>
          <p:cNvPr id="14" name="TextBox 14"/>
          <p:cNvSpPr txBox="1"/>
          <p:nvPr/>
        </p:nvSpPr>
        <p:spPr>
          <a:xfrm>
            <a:off x="8915752" y="7770152"/>
            <a:ext cx="470554" cy="265300"/>
          </a:xfrm>
          <a:prstGeom prst="rect">
            <a:avLst/>
          </a:prstGeom>
        </p:spPr>
        <p:txBody>
          <a:bodyPr lIns="0" tIns="0" rIns="0" bIns="0" rtlCol="0" anchor="t">
            <a:spAutoFit/>
          </a:bodyPr>
          <a:lstStyle/>
          <a:p>
            <a:pPr algn="l">
              <a:lnSpc>
                <a:spcPts val="2098"/>
              </a:lnSpc>
            </a:pPr>
            <a:r>
              <a:rPr lang="en-US" sz="1499">
                <a:solidFill>
                  <a:srgbClr val="111111"/>
                </a:solidFill>
                <a:latin typeface="Work Sans"/>
                <a:ea typeface="Work Sans"/>
                <a:cs typeface="Work Sans"/>
                <a:sym typeface="Work Sans"/>
              </a:rPr>
              <a:t>2000</a:t>
            </a:r>
          </a:p>
        </p:txBody>
      </p:sp>
      <p:sp>
        <p:nvSpPr>
          <p:cNvPr id="15" name="TextBox 15"/>
          <p:cNvSpPr txBox="1"/>
          <p:nvPr/>
        </p:nvSpPr>
        <p:spPr>
          <a:xfrm>
            <a:off x="11773195" y="7770152"/>
            <a:ext cx="470554" cy="265300"/>
          </a:xfrm>
          <a:prstGeom prst="rect">
            <a:avLst/>
          </a:prstGeom>
        </p:spPr>
        <p:txBody>
          <a:bodyPr lIns="0" tIns="0" rIns="0" bIns="0" rtlCol="0" anchor="t">
            <a:spAutoFit/>
          </a:bodyPr>
          <a:lstStyle/>
          <a:p>
            <a:pPr algn="l">
              <a:lnSpc>
                <a:spcPts val="2098"/>
              </a:lnSpc>
            </a:pPr>
            <a:r>
              <a:rPr lang="en-US" sz="1499">
                <a:solidFill>
                  <a:srgbClr val="111111"/>
                </a:solidFill>
                <a:latin typeface="Work Sans"/>
                <a:ea typeface="Work Sans"/>
                <a:cs typeface="Work Sans"/>
                <a:sym typeface="Work Sans"/>
              </a:rPr>
              <a:t>3000</a:t>
            </a:r>
          </a:p>
        </p:txBody>
      </p:sp>
      <p:sp>
        <p:nvSpPr>
          <p:cNvPr id="16" name="TextBox 16"/>
          <p:cNvSpPr txBox="1"/>
          <p:nvPr/>
        </p:nvSpPr>
        <p:spPr>
          <a:xfrm>
            <a:off x="14630638" y="7770152"/>
            <a:ext cx="609362" cy="249812"/>
          </a:xfrm>
          <a:prstGeom prst="rect">
            <a:avLst/>
          </a:prstGeom>
        </p:spPr>
        <p:txBody>
          <a:bodyPr wrap="square" lIns="0" tIns="0" rIns="0" bIns="0" rtlCol="0" anchor="t">
            <a:spAutoFit/>
          </a:bodyPr>
          <a:lstStyle/>
          <a:p>
            <a:pPr algn="l">
              <a:lnSpc>
                <a:spcPts val="2098"/>
              </a:lnSpc>
            </a:pPr>
            <a:r>
              <a:rPr lang="en-US" sz="1499" dirty="0">
                <a:solidFill>
                  <a:srgbClr val="111111"/>
                </a:solidFill>
                <a:latin typeface="Work Sans"/>
                <a:ea typeface="Work Sans"/>
                <a:cs typeface="Work Sans"/>
                <a:sym typeface="Work Sans"/>
              </a:rPr>
              <a:t>4000</a:t>
            </a:r>
          </a:p>
        </p:txBody>
      </p:sp>
      <p:sp>
        <p:nvSpPr>
          <p:cNvPr id="17" name="TextBox 17"/>
          <p:cNvSpPr txBox="1"/>
          <p:nvPr/>
        </p:nvSpPr>
        <p:spPr>
          <a:xfrm>
            <a:off x="8860517" y="4371099"/>
            <a:ext cx="511597" cy="320288"/>
          </a:xfrm>
          <a:prstGeom prst="rect">
            <a:avLst/>
          </a:prstGeom>
        </p:spPr>
        <p:txBody>
          <a:bodyPr lIns="0" tIns="0" rIns="0" bIns="0" rtlCol="0" anchor="t">
            <a:spAutoFit/>
          </a:bodyPr>
          <a:lstStyle/>
          <a:p>
            <a:pPr algn="l">
              <a:lnSpc>
                <a:spcPts val="2518"/>
              </a:lnSpc>
            </a:pPr>
            <a:r>
              <a:rPr lang="en-US" sz="1799">
                <a:solidFill>
                  <a:srgbClr val="111111"/>
                </a:solidFill>
                <a:latin typeface="Work Sans"/>
                <a:ea typeface="Work Sans"/>
                <a:cs typeface="Work Sans"/>
                <a:sym typeface="Work Sans"/>
              </a:rPr>
              <a:t>1834</a:t>
            </a:r>
          </a:p>
        </p:txBody>
      </p:sp>
      <p:sp>
        <p:nvSpPr>
          <p:cNvPr id="18" name="TextBox 18"/>
          <p:cNvSpPr txBox="1"/>
          <p:nvPr/>
        </p:nvSpPr>
        <p:spPr>
          <a:xfrm>
            <a:off x="8857659" y="5256905"/>
            <a:ext cx="505073" cy="320288"/>
          </a:xfrm>
          <a:prstGeom prst="rect">
            <a:avLst/>
          </a:prstGeom>
        </p:spPr>
        <p:txBody>
          <a:bodyPr lIns="0" tIns="0" rIns="0" bIns="0" rtlCol="0" anchor="t">
            <a:spAutoFit/>
          </a:bodyPr>
          <a:lstStyle/>
          <a:p>
            <a:pPr algn="l">
              <a:lnSpc>
                <a:spcPts val="2518"/>
              </a:lnSpc>
            </a:pPr>
            <a:r>
              <a:rPr lang="en-US" sz="1799">
                <a:solidFill>
                  <a:srgbClr val="111111"/>
                </a:solidFill>
                <a:latin typeface="Work Sans"/>
                <a:ea typeface="Work Sans"/>
                <a:cs typeface="Work Sans"/>
                <a:sym typeface="Work Sans"/>
              </a:rPr>
              <a:t>1833</a:t>
            </a:r>
          </a:p>
        </p:txBody>
      </p:sp>
      <p:sp>
        <p:nvSpPr>
          <p:cNvPr id="19" name="TextBox 19"/>
          <p:cNvSpPr txBox="1"/>
          <p:nvPr/>
        </p:nvSpPr>
        <p:spPr>
          <a:xfrm>
            <a:off x="8857659" y="6142711"/>
            <a:ext cx="505073" cy="320288"/>
          </a:xfrm>
          <a:prstGeom prst="rect">
            <a:avLst/>
          </a:prstGeom>
        </p:spPr>
        <p:txBody>
          <a:bodyPr lIns="0" tIns="0" rIns="0" bIns="0" rtlCol="0" anchor="t">
            <a:spAutoFit/>
          </a:bodyPr>
          <a:lstStyle/>
          <a:p>
            <a:pPr algn="l">
              <a:lnSpc>
                <a:spcPts val="2518"/>
              </a:lnSpc>
            </a:pPr>
            <a:r>
              <a:rPr lang="en-US" sz="1799">
                <a:solidFill>
                  <a:srgbClr val="111111"/>
                </a:solidFill>
                <a:latin typeface="Work Sans"/>
                <a:ea typeface="Work Sans"/>
                <a:cs typeface="Work Sans"/>
                <a:sym typeface="Work Sans"/>
              </a:rPr>
              <a:t>1833</a:t>
            </a:r>
          </a:p>
        </p:txBody>
      </p:sp>
      <p:sp>
        <p:nvSpPr>
          <p:cNvPr id="20" name="TextBox 20"/>
          <p:cNvSpPr txBox="1"/>
          <p:nvPr/>
        </p:nvSpPr>
        <p:spPr>
          <a:xfrm>
            <a:off x="8857659" y="7028517"/>
            <a:ext cx="505073" cy="320288"/>
          </a:xfrm>
          <a:prstGeom prst="rect">
            <a:avLst/>
          </a:prstGeom>
        </p:spPr>
        <p:txBody>
          <a:bodyPr lIns="0" tIns="0" rIns="0" bIns="0" rtlCol="0" anchor="t">
            <a:spAutoFit/>
          </a:bodyPr>
          <a:lstStyle/>
          <a:p>
            <a:pPr algn="l">
              <a:lnSpc>
                <a:spcPts val="2518"/>
              </a:lnSpc>
            </a:pPr>
            <a:r>
              <a:rPr lang="en-US" sz="1799">
                <a:solidFill>
                  <a:srgbClr val="111111"/>
                </a:solidFill>
                <a:latin typeface="Work Sans"/>
                <a:ea typeface="Work Sans"/>
                <a:cs typeface="Work Sans"/>
                <a:sym typeface="Work Sans"/>
              </a:rPr>
              <a:t>1833</a:t>
            </a:r>
          </a:p>
        </p:txBody>
      </p:sp>
      <p:sp>
        <p:nvSpPr>
          <p:cNvPr id="21" name="TextBox 21"/>
          <p:cNvSpPr txBox="1"/>
          <p:nvPr/>
        </p:nvSpPr>
        <p:spPr>
          <a:xfrm>
            <a:off x="14095352" y="3485293"/>
            <a:ext cx="569195" cy="320288"/>
          </a:xfrm>
          <a:prstGeom prst="rect">
            <a:avLst/>
          </a:prstGeom>
        </p:spPr>
        <p:txBody>
          <a:bodyPr lIns="0" tIns="0" rIns="0" bIns="0" rtlCol="0" anchor="t">
            <a:spAutoFit/>
          </a:bodyPr>
          <a:lstStyle/>
          <a:p>
            <a:pPr algn="l">
              <a:lnSpc>
                <a:spcPts val="2518"/>
              </a:lnSpc>
            </a:pPr>
            <a:r>
              <a:rPr lang="en-US" sz="1799" spc="21">
                <a:solidFill>
                  <a:srgbClr val="111111"/>
                </a:solidFill>
                <a:latin typeface="Work Sans"/>
                <a:ea typeface="Work Sans"/>
                <a:cs typeface="Work Sans"/>
                <a:sym typeface="Work Sans"/>
              </a:rPr>
              <a:t>3666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26997" y="-126997"/>
            <a:ext cx="18414997" cy="10413997"/>
          </a:xfrm>
          <a:custGeom>
            <a:avLst/>
            <a:gdLst/>
            <a:ahLst/>
            <a:cxnLst/>
            <a:rect l="l" t="t" r="r" b="b"/>
            <a:pathLst>
              <a:path w="18414997" h="10413997">
                <a:moveTo>
                  <a:pt x="0" y="0"/>
                </a:moveTo>
                <a:lnTo>
                  <a:pt x="18414997" y="0"/>
                </a:lnTo>
                <a:lnTo>
                  <a:pt x="18414997" y="10413997"/>
                </a:lnTo>
                <a:lnTo>
                  <a:pt x="0" y="10413997"/>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5" name="TextBox 5"/>
          <p:cNvSpPr txBox="1"/>
          <p:nvPr/>
        </p:nvSpPr>
        <p:spPr>
          <a:xfrm>
            <a:off x="3922262" y="963197"/>
            <a:ext cx="5258181" cy="334118"/>
          </a:xfrm>
          <a:prstGeom prst="rect">
            <a:avLst/>
          </a:prstGeom>
        </p:spPr>
        <p:txBody>
          <a:bodyPr lIns="0" tIns="0" rIns="0" bIns="0" rtlCol="0" anchor="t">
            <a:spAutoFit/>
          </a:bodyPr>
          <a:lstStyle/>
          <a:p>
            <a:pPr algn="l">
              <a:lnSpc>
                <a:spcPts val="2520"/>
              </a:lnSpc>
            </a:pPr>
            <a:r>
              <a:rPr lang="en-US" sz="1800" spc="349">
                <a:solidFill>
                  <a:srgbClr val="111111"/>
                </a:solidFill>
                <a:latin typeface="Work Sans"/>
                <a:ea typeface="Work Sans"/>
                <a:cs typeface="Work Sans"/>
                <a:sym typeface="Work Sans"/>
              </a:rPr>
              <a:t>CUSTOMER GENDER DISTRIBUTION</a:t>
            </a:r>
          </a:p>
        </p:txBody>
      </p:sp>
      <p:sp>
        <p:nvSpPr>
          <p:cNvPr id="6" name="TextBox 6"/>
          <p:cNvSpPr txBox="1"/>
          <p:nvPr/>
        </p:nvSpPr>
        <p:spPr>
          <a:xfrm>
            <a:off x="14001750" y="896522"/>
            <a:ext cx="2849709" cy="3764044"/>
          </a:xfrm>
          <a:prstGeom prst="rect">
            <a:avLst/>
          </a:prstGeom>
        </p:spPr>
        <p:txBody>
          <a:bodyPr lIns="0" tIns="0" rIns="0" bIns="0" rtlCol="0" anchor="t">
            <a:spAutoFit/>
          </a:bodyPr>
          <a:lstStyle/>
          <a:p>
            <a:pPr algn="l">
              <a:lnSpc>
                <a:spcPts val="3232"/>
              </a:lnSpc>
            </a:pPr>
            <a:r>
              <a:rPr lang="en-US" sz="1800" spc="329" dirty="0">
                <a:solidFill>
                  <a:srgbClr val="111111"/>
                </a:solidFill>
                <a:latin typeface="Work Sans"/>
                <a:ea typeface="Work Sans"/>
                <a:cs typeface="Work Sans"/>
                <a:sym typeface="Work Sans"/>
              </a:rPr>
              <a:t>ABOUT THE DATA</a:t>
            </a:r>
          </a:p>
          <a:p>
            <a:pPr algn="l">
              <a:lnSpc>
                <a:spcPts val="3771"/>
              </a:lnSpc>
            </a:pPr>
            <a:r>
              <a:rPr lang="en-US" sz="2100" dirty="0">
                <a:solidFill>
                  <a:srgbClr val="111111"/>
                </a:solidFill>
                <a:latin typeface="Noto Serif Japanese Extra-Light"/>
                <a:ea typeface="Noto Serif Japanese Extra-Light"/>
                <a:cs typeface="Noto Serif Japanese Extra-Light"/>
                <a:sym typeface="Noto Serif Japanese Extra-Light"/>
              </a:rPr>
              <a:t>The customer base is almost evenly split: 50.41% female and 49.59% male. Average order value is also near-identical across genders (~200).</a:t>
            </a:r>
          </a:p>
        </p:txBody>
      </p:sp>
      <p:sp>
        <p:nvSpPr>
          <p:cNvPr id="7" name="TextBox 7"/>
          <p:cNvSpPr txBox="1"/>
          <p:nvPr/>
        </p:nvSpPr>
        <p:spPr>
          <a:xfrm>
            <a:off x="2286000" y="4482789"/>
            <a:ext cx="855135" cy="589905"/>
          </a:xfrm>
          <a:prstGeom prst="rect">
            <a:avLst/>
          </a:prstGeom>
        </p:spPr>
        <p:txBody>
          <a:bodyPr wrap="square" lIns="0" tIns="0" rIns="0" bIns="0" rtlCol="0" anchor="t">
            <a:spAutoFit/>
          </a:bodyPr>
          <a:lstStyle/>
          <a:p>
            <a:pPr algn="just">
              <a:lnSpc>
                <a:spcPts val="2300"/>
              </a:lnSpc>
            </a:pPr>
            <a:r>
              <a:rPr lang="en-US" sz="2099" spc="16" dirty="0">
                <a:solidFill>
                  <a:srgbClr val="111111"/>
                </a:solidFill>
                <a:latin typeface="Work Sans"/>
                <a:ea typeface="Work Sans"/>
                <a:cs typeface="Work Sans"/>
                <a:sym typeface="Work Sans"/>
              </a:rPr>
              <a:t>Male 5450</a:t>
            </a:r>
          </a:p>
        </p:txBody>
      </p:sp>
      <p:sp>
        <p:nvSpPr>
          <p:cNvPr id="8" name="TextBox 8"/>
          <p:cNvSpPr txBox="1"/>
          <p:nvPr/>
        </p:nvSpPr>
        <p:spPr>
          <a:xfrm>
            <a:off x="9925374" y="5257486"/>
            <a:ext cx="963292" cy="600694"/>
          </a:xfrm>
          <a:prstGeom prst="rect">
            <a:avLst/>
          </a:prstGeom>
        </p:spPr>
        <p:txBody>
          <a:bodyPr lIns="0" tIns="0" rIns="0" bIns="0" rtlCol="0" anchor="t">
            <a:spAutoFit/>
          </a:bodyPr>
          <a:lstStyle/>
          <a:p>
            <a:pPr algn="l">
              <a:lnSpc>
                <a:spcPts val="2300"/>
              </a:lnSpc>
            </a:pPr>
            <a:r>
              <a:rPr lang="en-US" sz="2099">
                <a:solidFill>
                  <a:srgbClr val="111111"/>
                </a:solidFill>
                <a:latin typeface="Work Sans"/>
                <a:ea typeface="Work Sans"/>
                <a:cs typeface="Work Sans"/>
                <a:sym typeface="Work Sans"/>
              </a:rPr>
              <a:t>Female 5550</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5" name="TextBox 5"/>
          <p:cNvSpPr txBox="1"/>
          <p:nvPr/>
        </p:nvSpPr>
        <p:spPr>
          <a:xfrm>
            <a:off x="951233" y="857393"/>
            <a:ext cx="3245615" cy="672300"/>
          </a:xfrm>
          <a:prstGeom prst="rect">
            <a:avLst/>
          </a:prstGeom>
        </p:spPr>
        <p:txBody>
          <a:bodyPr lIns="0" tIns="0" rIns="0" bIns="0" rtlCol="0" anchor="t">
            <a:spAutoFit/>
          </a:bodyPr>
          <a:lstStyle/>
          <a:p>
            <a:pPr algn="l">
              <a:lnSpc>
                <a:spcPts val="5670"/>
              </a:lnSpc>
            </a:pPr>
            <a:r>
              <a:rPr lang="en-US" sz="4050" b="1" dirty="0">
                <a:solidFill>
                  <a:srgbClr val="111111"/>
                </a:solidFill>
                <a:latin typeface="Times New Roman" panose="02020603050405020304" pitchFamily="18" charset="0"/>
                <a:ea typeface="Noto Serif Japanese Extra-Light"/>
                <a:cs typeface="Times New Roman" panose="02020603050405020304" pitchFamily="18" charset="0"/>
                <a:sym typeface="Noto Serif Japanese Extra-Light"/>
              </a:rPr>
              <a:t>Key</a:t>
            </a:r>
            <a:r>
              <a:rPr lang="en-US" sz="4050" b="1" dirty="0">
                <a:solidFill>
                  <a:srgbClr val="111111"/>
                </a:solidFill>
                <a:latin typeface="Noto Serif Japanese Extra-Light"/>
                <a:ea typeface="Noto Serif Japanese Extra-Light"/>
                <a:cs typeface="Noto Serif Japanese Extra-Light"/>
                <a:sym typeface="Noto Serif Japanese Extra-Light"/>
              </a:rPr>
              <a:t> </a:t>
            </a:r>
            <a:r>
              <a:rPr lang="en-US" sz="4050" b="1" dirty="0">
                <a:solidFill>
                  <a:srgbClr val="111111"/>
                </a:solidFill>
                <a:latin typeface="Times New Roman" panose="02020603050405020304" pitchFamily="18" charset="0"/>
                <a:ea typeface="Noto Serif Japanese Extra-Light"/>
                <a:cs typeface="Times New Roman" panose="02020603050405020304" pitchFamily="18" charset="0"/>
                <a:sym typeface="Noto Serif Japanese Extra-Light"/>
              </a:rPr>
              <a:t>findings</a:t>
            </a:r>
          </a:p>
        </p:txBody>
      </p:sp>
      <p:sp>
        <p:nvSpPr>
          <p:cNvPr id="6" name="TextBox 6"/>
          <p:cNvSpPr txBox="1"/>
          <p:nvPr/>
        </p:nvSpPr>
        <p:spPr>
          <a:xfrm>
            <a:off x="6623322" y="4552293"/>
            <a:ext cx="1987277" cy="297838"/>
          </a:xfrm>
          <a:prstGeom prst="rect">
            <a:avLst/>
          </a:prstGeom>
        </p:spPr>
        <p:txBody>
          <a:bodyPr wrap="square" lIns="0" tIns="0" rIns="0" bIns="0" rtlCol="0" anchor="t">
            <a:spAutoFit/>
          </a:bodyPr>
          <a:lstStyle/>
          <a:p>
            <a:pPr algn="l">
              <a:lnSpc>
                <a:spcPts val="2520"/>
              </a:lnSpc>
            </a:pPr>
            <a:r>
              <a:rPr lang="en-US" sz="1800" b="1" spc="352" dirty="0">
                <a:solidFill>
                  <a:srgbClr val="111111"/>
                </a:solidFill>
                <a:latin typeface="Work Sans"/>
                <a:ea typeface="Work Sans"/>
                <a:cs typeface="Work Sans"/>
                <a:sym typeface="Work Sans"/>
              </a:rPr>
              <a:t>OPERATIONS</a:t>
            </a:r>
          </a:p>
        </p:txBody>
      </p:sp>
      <p:sp>
        <p:nvSpPr>
          <p:cNvPr id="7" name="TextBox 7"/>
          <p:cNvSpPr txBox="1"/>
          <p:nvPr/>
        </p:nvSpPr>
        <p:spPr>
          <a:xfrm>
            <a:off x="6623323" y="959920"/>
            <a:ext cx="4196848" cy="293029"/>
          </a:xfrm>
          <a:prstGeom prst="rect">
            <a:avLst/>
          </a:prstGeom>
        </p:spPr>
        <p:txBody>
          <a:bodyPr wrap="square" lIns="0" tIns="0" rIns="0" bIns="0" rtlCol="0" anchor="t">
            <a:spAutoFit/>
          </a:bodyPr>
          <a:lstStyle/>
          <a:p>
            <a:pPr algn="l">
              <a:lnSpc>
                <a:spcPts val="2520"/>
              </a:lnSpc>
            </a:pPr>
            <a:r>
              <a:rPr lang="en-US" sz="1800" b="1" spc="345" dirty="0">
                <a:solidFill>
                  <a:srgbClr val="111111"/>
                </a:solidFill>
                <a:latin typeface="Work Sans"/>
                <a:ea typeface="Work Sans"/>
                <a:cs typeface="Work Sans"/>
                <a:sym typeface="Work Sans"/>
              </a:rPr>
              <a:t>CUSTOMERS &amp; PRODUCTS</a:t>
            </a:r>
          </a:p>
        </p:txBody>
      </p:sp>
      <p:sp>
        <p:nvSpPr>
          <p:cNvPr id="8" name="TextBox 8"/>
          <p:cNvSpPr txBox="1"/>
          <p:nvPr/>
        </p:nvSpPr>
        <p:spPr>
          <a:xfrm>
            <a:off x="6623323" y="1488415"/>
            <a:ext cx="10105634" cy="1412167"/>
          </a:xfrm>
          <a:prstGeom prst="rect">
            <a:avLst/>
          </a:prstGeom>
        </p:spPr>
        <p:txBody>
          <a:bodyPr lIns="0" tIns="0" rIns="0" bIns="0" rtlCol="0" anchor="t">
            <a:spAutoFit/>
          </a:bodyPr>
          <a:lstStyle/>
          <a:p>
            <a:pPr algn="l">
              <a:lnSpc>
                <a:spcPts val="3801"/>
              </a:lnSpc>
            </a:pPr>
            <a:r>
              <a:rPr lang="en-US" sz="2100" b="1" dirty="0">
                <a:solidFill>
                  <a:srgbClr val="111111"/>
                </a:solidFill>
                <a:latin typeface="Times New Roman" panose="02020603050405020304" pitchFamily="18" charset="0"/>
                <a:ea typeface="Noto Serif Japanese Extra-Light"/>
                <a:cs typeface="Times New Roman" panose="02020603050405020304" pitchFamily="18" charset="0"/>
                <a:sym typeface="Noto Serif Japanese Extra-Light"/>
              </a:rPr>
              <a:t>Satisfaction</a:t>
            </a:r>
            <a:r>
              <a:rPr lang="en-US" sz="2100" dirty="0">
                <a:solidFill>
                  <a:srgbClr val="111111"/>
                </a:solidFill>
                <a:latin typeface="Noto Serif Japanese Extra-Light"/>
                <a:ea typeface="Noto Serif Japanese Extra-Light"/>
                <a:cs typeface="Noto Serif Japanese Extra-Light"/>
                <a:sym typeface="Noto Serif Japanese Extra-Light"/>
              </a:rPr>
              <a:t>: Ratings are spread evenly from Poor to Excellent (~2.2K each). </a:t>
            </a:r>
            <a:r>
              <a:rPr lang="en-US" sz="2100" b="1" dirty="0">
                <a:solidFill>
                  <a:srgbClr val="111111"/>
                </a:solidFill>
                <a:latin typeface="Times New Roman" panose="02020603050405020304" pitchFamily="18" charset="0"/>
                <a:ea typeface="Noto Serif Japanese Extra-Light"/>
                <a:cs typeface="Times New Roman" panose="02020603050405020304" pitchFamily="18" charset="0"/>
                <a:sym typeface="Noto Serif Japanese Extra-Light"/>
              </a:rPr>
              <a:t>Product importance</a:t>
            </a:r>
            <a:r>
              <a:rPr lang="en-US" sz="2100" dirty="0">
                <a:solidFill>
                  <a:srgbClr val="111111"/>
                </a:solidFill>
                <a:latin typeface="Noto Serif Japanese Extra-Light"/>
                <a:ea typeface="Noto Serif Japanese Extra-Light"/>
                <a:cs typeface="Noto Serif Japanese Extra-Light"/>
                <a:sym typeface="Noto Serif Japanese Extra-Light"/>
              </a:rPr>
              <a:t>: 48% low, 43% medium, 9% high.</a:t>
            </a:r>
          </a:p>
          <a:p>
            <a:pPr algn="l">
              <a:lnSpc>
                <a:spcPts val="3801"/>
              </a:lnSpc>
            </a:pPr>
            <a:r>
              <a:rPr lang="en-US" sz="2100" b="1" dirty="0">
                <a:solidFill>
                  <a:srgbClr val="111111"/>
                </a:solidFill>
                <a:latin typeface="Times New Roman" panose="02020603050405020304" pitchFamily="18" charset="0"/>
                <a:ea typeface="Noto Serif Japanese Extra-Light"/>
                <a:cs typeface="Times New Roman" panose="02020603050405020304" pitchFamily="18" charset="0"/>
                <a:sym typeface="Noto Serif Japanese Extra-Light"/>
              </a:rPr>
              <a:t>Discounts</a:t>
            </a:r>
            <a:r>
              <a:rPr lang="en-US" sz="2100" dirty="0">
                <a:solidFill>
                  <a:srgbClr val="111111"/>
                </a:solidFill>
                <a:latin typeface="Noto Serif Japanese Extra-Light"/>
                <a:ea typeface="Noto Serif Japanese Extra-Light"/>
                <a:cs typeface="Noto Serif Japanese Extra-Light"/>
                <a:sym typeface="Noto Serif Japanese Extra-Light"/>
              </a:rPr>
              <a:t>: High-importance products get the largest average discount (~15).</a:t>
            </a:r>
          </a:p>
        </p:txBody>
      </p:sp>
      <p:sp>
        <p:nvSpPr>
          <p:cNvPr id="9" name="TextBox 9"/>
          <p:cNvSpPr txBox="1"/>
          <p:nvPr/>
        </p:nvSpPr>
        <p:spPr>
          <a:xfrm>
            <a:off x="6623323" y="5097180"/>
            <a:ext cx="10523401" cy="1878892"/>
          </a:xfrm>
          <a:prstGeom prst="rect">
            <a:avLst/>
          </a:prstGeom>
        </p:spPr>
        <p:txBody>
          <a:bodyPr lIns="0" tIns="0" rIns="0" bIns="0" rtlCol="0" anchor="t">
            <a:spAutoFit/>
          </a:bodyPr>
          <a:lstStyle/>
          <a:p>
            <a:pPr algn="l">
              <a:lnSpc>
                <a:spcPts val="3769"/>
              </a:lnSpc>
            </a:pPr>
            <a:r>
              <a:rPr lang="en-US" sz="2100" b="1" dirty="0">
                <a:solidFill>
                  <a:srgbClr val="252525"/>
                </a:solidFill>
                <a:latin typeface="Times New Roman" panose="02020603050405020304" pitchFamily="18" charset="0"/>
                <a:ea typeface="Noto Serif Japanese Extra-Light"/>
                <a:cs typeface="Times New Roman" panose="02020603050405020304" pitchFamily="18" charset="0"/>
                <a:sym typeface="Noto Serif Japanese Extra-Light"/>
              </a:rPr>
              <a:t>Delivery</a:t>
            </a:r>
            <a:r>
              <a:rPr lang="en-US" sz="2100" dirty="0">
                <a:solidFill>
                  <a:srgbClr val="252525"/>
                </a:solidFill>
                <a:latin typeface="Noto Serif Japanese Extra-Light"/>
                <a:ea typeface="Noto Serif Japanese Extra-Light"/>
                <a:cs typeface="Noto Serif Japanese Extra-Light"/>
                <a:sym typeface="Noto Serif Japanese Extra-Light"/>
              </a:rPr>
              <a:t>: 59.7% of orders were delayed.</a:t>
            </a:r>
          </a:p>
          <a:p>
            <a:pPr algn="l">
              <a:lnSpc>
                <a:spcPts val="3769"/>
              </a:lnSpc>
            </a:pPr>
            <a:r>
              <a:rPr lang="en-US" sz="2100" b="1" dirty="0">
                <a:solidFill>
                  <a:srgbClr val="252525"/>
                </a:solidFill>
                <a:latin typeface="Times New Roman" panose="02020603050405020304" pitchFamily="18" charset="0"/>
                <a:ea typeface="Noto Serif Japanese Extra-Light"/>
                <a:cs typeface="Times New Roman" panose="02020603050405020304" pitchFamily="18" charset="0"/>
                <a:sym typeface="Noto Serif Japanese Extra-Light"/>
              </a:rPr>
              <a:t>Shipping &amp; warehouse</a:t>
            </a:r>
            <a:r>
              <a:rPr lang="en-US" sz="2100" dirty="0">
                <a:solidFill>
                  <a:srgbClr val="252525"/>
                </a:solidFill>
                <a:latin typeface="Noto Serif Japanese Extra-Light"/>
                <a:ea typeface="Noto Serif Japanese Extra-Light"/>
                <a:cs typeface="Noto Serif Japanese Extra-Light"/>
                <a:sym typeface="Noto Serif Japanese Extra-Light"/>
              </a:rPr>
              <a:t>: Ship dominates; Block E carries the heaviest workload. </a:t>
            </a:r>
            <a:r>
              <a:rPr lang="en-US" sz="2100" b="1" dirty="0">
                <a:solidFill>
                  <a:srgbClr val="252525"/>
                </a:solidFill>
                <a:latin typeface="Times New Roman" panose="02020603050405020304" pitchFamily="18" charset="0"/>
                <a:ea typeface="Noto Serif Japanese Extra-Light"/>
                <a:cs typeface="Times New Roman" panose="02020603050405020304" pitchFamily="18" charset="0"/>
                <a:sym typeface="Noto Serif Japanese Extra-Light"/>
              </a:rPr>
              <a:t>Delivery fee &amp; care</a:t>
            </a:r>
            <a:r>
              <a:rPr lang="en-US" sz="2100" dirty="0">
                <a:solidFill>
                  <a:srgbClr val="252525"/>
                </a:solidFill>
                <a:latin typeface="Noto Serif Japanese Extra-Light"/>
                <a:ea typeface="Noto Serif Japanese Extra-Light"/>
                <a:cs typeface="Noto Serif Japanese Extra-Light"/>
                <a:sym typeface="Noto Serif Japanese Extra-Light"/>
              </a:rPr>
              <a:t>: Most orders fall in the 10 fee tier; most customers make 3– 4 care calls.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5" name="TextBox 5"/>
          <p:cNvSpPr txBox="1"/>
          <p:nvPr/>
        </p:nvSpPr>
        <p:spPr>
          <a:xfrm>
            <a:off x="952500" y="885168"/>
            <a:ext cx="2936710" cy="672300"/>
          </a:xfrm>
          <a:prstGeom prst="rect">
            <a:avLst/>
          </a:prstGeom>
        </p:spPr>
        <p:txBody>
          <a:bodyPr lIns="0" tIns="0" rIns="0" bIns="0" rtlCol="0" anchor="t">
            <a:spAutoFit/>
          </a:bodyPr>
          <a:lstStyle/>
          <a:p>
            <a:pPr algn="l">
              <a:lnSpc>
                <a:spcPts val="5670"/>
              </a:lnSpc>
            </a:pPr>
            <a:r>
              <a:rPr lang="en-US" sz="4050" b="1" dirty="0">
                <a:solidFill>
                  <a:srgbClr val="111111"/>
                </a:solidFill>
                <a:latin typeface="Times New Roman" panose="02020603050405020304" pitchFamily="18" charset="0"/>
                <a:ea typeface="Noto Serif Japanese Extra-Light"/>
                <a:cs typeface="Times New Roman" panose="02020603050405020304" pitchFamily="18" charset="0"/>
                <a:sym typeface="Noto Serif Japanese Extra-Light"/>
              </a:rPr>
              <a:t>Conclusion</a:t>
            </a:r>
          </a:p>
        </p:txBody>
      </p:sp>
      <p:sp>
        <p:nvSpPr>
          <p:cNvPr id="6" name="TextBox 6"/>
          <p:cNvSpPr txBox="1"/>
          <p:nvPr/>
        </p:nvSpPr>
        <p:spPr>
          <a:xfrm>
            <a:off x="1447800" y="1868281"/>
            <a:ext cx="69637" cy="364417"/>
          </a:xfrm>
          <a:prstGeom prst="rect">
            <a:avLst/>
          </a:prstGeom>
        </p:spPr>
        <p:txBody>
          <a:bodyPr lIns="0" tIns="0" rIns="0" bIns="0" rtlCol="0" anchor="t">
            <a:spAutoFit/>
          </a:bodyPr>
          <a:lstStyle/>
          <a:p>
            <a:pPr algn="l">
              <a:lnSpc>
                <a:spcPts val="2940"/>
              </a:lnSpc>
            </a:pPr>
            <a:r>
              <a:rPr lang="en-US" sz="2100">
                <a:solidFill>
                  <a:srgbClr val="111111"/>
                </a:solidFill>
                <a:latin typeface="Noto Serif Japanese Extra-Light"/>
                <a:ea typeface="Noto Serif Japanese Extra-Light"/>
                <a:cs typeface="Noto Serif Japanese Extra-Light"/>
                <a:sym typeface="Noto Serif Japanese Extra-Light"/>
              </a:rPr>
              <a:t> </a:t>
            </a:r>
          </a:p>
        </p:txBody>
      </p:sp>
      <p:sp>
        <p:nvSpPr>
          <p:cNvPr id="7" name="TextBox 7"/>
          <p:cNvSpPr txBox="1"/>
          <p:nvPr/>
        </p:nvSpPr>
        <p:spPr>
          <a:xfrm>
            <a:off x="952500" y="1868281"/>
            <a:ext cx="16062789" cy="343235"/>
          </a:xfrm>
          <a:prstGeom prst="rect">
            <a:avLst/>
          </a:prstGeom>
        </p:spPr>
        <p:txBody>
          <a:bodyPr lIns="0" tIns="0" rIns="0" bIns="0" rtlCol="0" anchor="t">
            <a:spAutoFit/>
          </a:bodyPr>
          <a:lstStyle/>
          <a:p>
            <a:pPr algn="l">
              <a:lnSpc>
                <a:spcPts val="2940"/>
              </a:lnSpc>
            </a:pPr>
            <a:r>
              <a:rPr lang="en-US" sz="2100" dirty="0">
                <a:latin typeface="Noto Serif Japanese Extra-Light"/>
                <a:ea typeface="Noto Serif Japanese Extra-Light"/>
                <a:cs typeface="Noto Serif Japanese Extra-Light"/>
                <a:sym typeface="Noto Serif Japanese Extra-Light"/>
              </a:rPr>
              <a:t>The analysis provides a clearer understanding of customer </a:t>
            </a:r>
            <a:r>
              <a:rPr lang="en-US" sz="2100" dirty="0" err="1">
                <a:latin typeface="Noto Serif Japanese Extra-Light"/>
                <a:ea typeface="Noto Serif Japanese Extra-Light"/>
                <a:cs typeface="Noto Serif Japanese Extra-Light"/>
                <a:sym typeface="Noto Serif Japanese Extra-Light"/>
              </a:rPr>
              <a:t>behaviour</a:t>
            </a:r>
            <a:r>
              <a:rPr lang="en-US" sz="2100" dirty="0">
                <a:latin typeface="Noto Serif Japanese Extra-Light"/>
                <a:ea typeface="Noto Serif Japanese Extra-Light"/>
                <a:cs typeface="Noto Serif Japanese Extra-Light"/>
                <a:sym typeface="Noto Serif Japanese Extra-Light"/>
              </a:rPr>
              <a:t>, satisfaction, shipping performance and warehouse</a:t>
            </a:r>
          </a:p>
        </p:txBody>
      </p:sp>
      <p:sp>
        <p:nvSpPr>
          <p:cNvPr id="8" name="TextBox 8"/>
          <p:cNvSpPr txBox="1"/>
          <p:nvPr/>
        </p:nvSpPr>
        <p:spPr>
          <a:xfrm>
            <a:off x="952500" y="2268331"/>
            <a:ext cx="16499605" cy="1402642"/>
          </a:xfrm>
          <a:prstGeom prst="rect">
            <a:avLst/>
          </a:prstGeom>
        </p:spPr>
        <p:txBody>
          <a:bodyPr lIns="0" tIns="0" rIns="0" bIns="0" rtlCol="0" anchor="t">
            <a:spAutoFit/>
          </a:bodyPr>
          <a:lstStyle/>
          <a:p>
            <a:pPr algn="l">
              <a:lnSpc>
                <a:spcPts val="3775"/>
              </a:lnSpc>
            </a:pPr>
            <a:r>
              <a:rPr lang="en-US" sz="2100" dirty="0" err="1">
                <a:latin typeface="Noto Serif Japanese Extra-Light"/>
                <a:ea typeface="Noto Serif Japanese Extra-Light"/>
                <a:cs typeface="Noto Serif Japanese Extra-Light"/>
                <a:sym typeface="Noto Serif Japanese Extra-Light"/>
              </a:rPr>
              <a:t>utilisation</a:t>
            </a:r>
            <a:r>
              <a:rPr lang="en-US" sz="2100" dirty="0">
                <a:latin typeface="Noto Serif Japanese Extra-Light"/>
                <a:ea typeface="Noto Serif Japanese Extra-Light"/>
                <a:cs typeface="Noto Serif Japanese Extra-Light"/>
                <a:sym typeface="Noto Serif Japanese Extra-Light"/>
              </a:rPr>
              <a:t>. The additional analysis of discounts, delivery fees, order value and customer care activity provides further insight into operational and commercial performance. These findings can support better decisions around customer service, shipping operations, warehouse allocation and promotional strategies.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108</TotalTime>
  <Words>401</Words>
  <Application>Microsoft Office PowerPoint</Application>
  <PresentationFormat>Custom</PresentationFormat>
  <Paragraphs>77</Paragraphs>
  <Slides>9</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9</vt:i4>
      </vt:variant>
    </vt:vector>
  </HeadingPairs>
  <TitlesOfParts>
    <vt:vector size="15" baseType="lpstr">
      <vt:lpstr>Arial</vt:lpstr>
      <vt:lpstr>Calibri</vt:lpstr>
      <vt:lpstr>Work Sans</vt:lpstr>
      <vt:lpstr>Times New Roman</vt:lpstr>
      <vt:lpstr>Noto Serif Japanese Extra-Light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Customer Analytics &amp; Shipping Performance Dashboard (1).pdf</dc:title>
  <cp:lastModifiedBy>HP</cp:lastModifiedBy>
  <cp:revision>6</cp:revision>
  <dcterms:created xsi:type="dcterms:W3CDTF">2006-08-16T00:00:00Z</dcterms:created>
  <dcterms:modified xsi:type="dcterms:W3CDTF">2026-10-08T20:35:18Z</dcterms:modified>
  <dc:identifier>DAHXcgVnGwc</dc:identifier>
</cp:coreProperties>
</file>