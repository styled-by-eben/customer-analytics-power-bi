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6" r:id="rId9"/>
    <p:sldId id="265" r:id="rId10"/>
    <p:sldId id="264" r:id="rId11"/>
  </p:sldIdLst>
  <p:sldSz cx="18288000" cy="10287000"/>
  <p:notesSz cx="6858000" cy="9144000"/>
  <p:embeddedFontLst>
    <p:embeddedFont>
      <p:font typeface="Noto Serif Japanese Extra-Light" panose="020B0604020202020204" charset="-128"/>
      <p:regular r:id="rId12"/>
    </p:embeddedFont>
    <p:embeddedFont>
      <p:font typeface="Calibri" panose="020F0502020204030204" pitchFamily="34" charset="0"/>
      <p:regular r:id="rId13"/>
      <p:bold r:id="rId14"/>
      <p:italic r:id="rId15"/>
      <p:boldItalic r:id="rId16"/>
    </p:embeddedFont>
    <p:embeddedFont>
      <p:font typeface="Overpass" panose="020B0604020202020204" charset="0"/>
      <p:regular r:id="rId17"/>
    </p:embeddedFont>
    <p:embeddedFont>
      <p:font typeface="Work Sans" pitchFamily="2" charset="0"/>
      <p:regular r:id="rId18"/>
      <p:bold r:id="rId19"/>
      <p:italic r:id="rId20"/>
      <p:boldItalic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2" d="100"/>
          <a:sy n="42" d="100"/>
        </p:scale>
        <p:origin x="780" y="4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17.jpeg"/></Relationships>
</file>

<file path=ppt/slides/_rels/slide9.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3503" y="-63503"/>
            <a:ext cx="18414997" cy="10413997"/>
          </a:xfrm>
          <a:custGeom>
            <a:avLst/>
            <a:gdLst/>
            <a:ahLst/>
            <a:cxnLst/>
            <a:rect l="l" t="t" r="r" b="b"/>
            <a:pathLst>
              <a:path w="18414997" h="10413997">
                <a:moveTo>
                  <a:pt x="0" y="0"/>
                </a:moveTo>
                <a:lnTo>
                  <a:pt x="18414997" y="0"/>
                </a:lnTo>
                <a:lnTo>
                  <a:pt x="18414997" y="10413997"/>
                </a:lnTo>
                <a:lnTo>
                  <a:pt x="0" y="104139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TextBox 5"/>
          <p:cNvSpPr txBox="1"/>
          <p:nvPr/>
        </p:nvSpPr>
        <p:spPr>
          <a:xfrm>
            <a:off x="6457855" y="4298404"/>
            <a:ext cx="5428012" cy="334118"/>
          </a:xfrm>
          <a:prstGeom prst="rect">
            <a:avLst/>
          </a:prstGeom>
        </p:spPr>
        <p:txBody>
          <a:bodyPr lIns="0" tIns="0" rIns="0" bIns="0" rtlCol="0" anchor="t">
            <a:spAutoFit/>
          </a:bodyPr>
          <a:lstStyle/>
          <a:p>
            <a:pPr algn="l">
              <a:lnSpc>
                <a:spcPts val="2520"/>
              </a:lnSpc>
            </a:pPr>
            <a:r>
              <a:rPr lang="en-US" sz="1800" spc="334">
                <a:solidFill>
                  <a:srgbClr val="111111"/>
                </a:solidFill>
                <a:latin typeface="Work Sans"/>
                <a:ea typeface="Work Sans"/>
                <a:cs typeface="Work Sans"/>
                <a:sym typeface="Work Sans"/>
              </a:rPr>
              <a:t>POWER BI DATA ANALYSIS PROJECT</a:t>
            </a:r>
          </a:p>
        </p:txBody>
      </p:sp>
      <p:sp>
        <p:nvSpPr>
          <p:cNvPr id="6" name="TextBox 6"/>
          <p:cNvSpPr txBox="1"/>
          <p:nvPr/>
        </p:nvSpPr>
        <p:spPr>
          <a:xfrm>
            <a:off x="1507779" y="4791018"/>
            <a:ext cx="15598121" cy="2103958"/>
          </a:xfrm>
          <a:prstGeom prst="rect">
            <a:avLst/>
          </a:prstGeom>
        </p:spPr>
        <p:txBody>
          <a:bodyPr lIns="0" tIns="0" rIns="0" bIns="0" rtlCol="0" anchor="t">
            <a:spAutoFit/>
          </a:bodyPr>
          <a:lstStyle/>
          <a:p>
            <a:pPr algn="ctr">
              <a:lnSpc>
                <a:spcPts val="7948"/>
              </a:lnSpc>
            </a:pPr>
            <a:r>
              <a:rPr lang="en-US" sz="7200" b="1" dirty="0">
                <a:solidFill>
                  <a:srgbClr val="111111"/>
                </a:solidFill>
                <a:latin typeface="Times New Roman" panose="02020603050405020304" pitchFamily="18" charset="0"/>
                <a:ea typeface="Noto Serif Japanese Extra-Light"/>
                <a:cs typeface="Times New Roman" panose="02020603050405020304" pitchFamily="18" charset="0"/>
                <a:sym typeface="Noto Serif Japanese Extra-Light"/>
              </a:rPr>
              <a:t>Customer Analytics &amp;</a:t>
            </a:r>
          </a:p>
          <a:p>
            <a:pPr algn="ctr">
              <a:lnSpc>
                <a:spcPts val="7948"/>
              </a:lnSpc>
            </a:pPr>
            <a:r>
              <a:rPr lang="en-US" sz="7200" b="1" dirty="0">
                <a:solidFill>
                  <a:srgbClr val="111111"/>
                </a:solidFill>
                <a:latin typeface="Times New Roman" panose="02020603050405020304" pitchFamily="18" charset="0"/>
                <a:ea typeface="Noto Serif Japanese Extra-Light"/>
                <a:cs typeface="Times New Roman" panose="02020603050405020304" pitchFamily="18" charset="0"/>
                <a:sym typeface="Noto Serif Japanese Extra-Light"/>
              </a:rPr>
              <a:t>Shipping Performance Dashboard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TextBox 5"/>
          <p:cNvSpPr txBox="1"/>
          <p:nvPr/>
        </p:nvSpPr>
        <p:spPr>
          <a:xfrm>
            <a:off x="952500" y="885168"/>
            <a:ext cx="3343199" cy="669927"/>
          </a:xfrm>
          <a:prstGeom prst="rect">
            <a:avLst/>
          </a:prstGeom>
        </p:spPr>
        <p:txBody>
          <a:bodyPr lIns="0" tIns="0" rIns="0" bIns="0" rtlCol="0" anchor="t">
            <a:spAutoFit/>
          </a:bodyPr>
          <a:lstStyle/>
          <a:p>
            <a:pPr algn="l">
              <a:lnSpc>
                <a:spcPts val="5670"/>
              </a:lnSpc>
            </a:pPr>
            <a:r>
              <a:rPr lang="en-US" sz="4050" b="1" dirty="0">
                <a:solidFill>
                  <a:srgbClr val="111111"/>
                </a:solidFill>
                <a:latin typeface="Times New Roman" panose="02020603050405020304" pitchFamily="18" charset="0"/>
                <a:ea typeface="Noto Serif Japanese Extra-Light"/>
                <a:cs typeface="Times New Roman" panose="02020603050405020304" pitchFamily="18" charset="0"/>
                <a:sym typeface="Noto Serif Japanese Extra-Light"/>
              </a:rPr>
              <a:t>Introduction</a:t>
            </a:r>
          </a:p>
        </p:txBody>
      </p:sp>
      <p:sp>
        <p:nvSpPr>
          <p:cNvPr id="6" name="TextBox 6"/>
          <p:cNvSpPr txBox="1"/>
          <p:nvPr/>
        </p:nvSpPr>
        <p:spPr>
          <a:xfrm>
            <a:off x="1514475" y="1868281"/>
            <a:ext cx="69637" cy="364417"/>
          </a:xfrm>
          <a:prstGeom prst="rect">
            <a:avLst/>
          </a:prstGeom>
        </p:spPr>
        <p:txBody>
          <a:bodyPr lIns="0" tIns="0" rIns="0" bIns="0" rtlCol="0" anchor="t">
            <a:spAutoFit/>
          </a:bodyPr>
          <a:lstStyle/>
          <a:p>
            <a:pPr algn="l">
              <a:lnSpc>
                <a:spcPts val="2940"/>
              </a:lnSpc>
            </a:pPr>
            <a:r>
              <a:rPr lang="en-US" sz="2100">
                <a:solidFill>
                  <a:srgbClr val="252525"/>
                </a:solidFill>
                <a:latin typeface="Noto Serif Japanese Extra-Light"/>
                <a:ea typeface="Noto Serif Japanese Extra-Light"/>
                <a:cs typeface="Noto Serif Japanese Extra-Light"/>
                <a:sym typeface="Noto Serif Japanese Extra-Light"/>
              </a:rPr>
              <a:t> </a:t>
            </a:r>
          </a:p>
        </p:txBody>
      </p:sp>
      <p:sp>
        <p:nvSpPr>
          <p:cNvPr id="7" name="TextBox 7"/>
          <p:cNvSpPr txBox="1"/>
          <p:nvPr/>
        </p:nvSpPr>
        <p:spPr>
          <a:xfrm>
            <a:off x="952500" y="1868281"/>
            <a:ext cx="16600761" cy="343235"/>
          </a:xfrm>
          <a:prstGeom prst="rect">
            <a:avLst/>
          </a:prstGeom>
        </p:spPr>
        <p:txBody>
          <a:bodyPr lIns="0" tIns="0" rIns="0" bIns="0" rtlCol="0" anchor="t">
            <a:spAutoFit/>
          </a:bodyPr>
          <a:lstStyle/>
          <a:p>
            <a:pPr algn="l">
              <a:lnSpc>
                <a:spcPts val="2940"/>
              </a:lnSpc>
            </a:pPr>
            <a:r>
              <a:rPr lang="en-US" sz="2100" dirty="0">
                <a:latin typeface="Noto Serif Japanese Extra-Light"/>
                <a:ea typeface="Noto Serif Japanese Extra-Light"/>
                <a:cs typeface="Noto Serif Japanese Extra-Light"/>
                <a:sym typeface="Noto Serif Japanese Extra-Light"/>
              </a:rPr>
              <a:t>This project analyses customer and shipment data for an e-commerce company selling electronic products. The objective is to</a:t>
            </a:r>
          </a:p>
        </p:txBody>
      </p:sp>
      <p:sp>
        <p:nvSpPr>
          <p:cNvPr id="8" name="TextBox 8"/>
          <p:cNvSpPr txBox="1"/>
          <p:nvPr/>
        </p:nvSpPr>
        <p:spPr>
          <a:xfrm>
            <a:off x="952500" y="2258806"/>
            <a:ext cx="16266814" cy="935917"/>
          </a:xfrm>
          <a:prstGeom prst="rect">
            <a:avLst/>
          </a:prstGeom>
        </p:spPr>
        <p:txBody>
          <a:bodyPr lIns="0" tIns="0" rIns="0" bIns="0" rtlCol="0" anchor="t">
            <a:spAutoFit/>
          </a:bodyPr>
          <a:lstStyle/>
          <a:p>
            <a:pPr algn="l">
              <a:lnSpc>
                <a:spcPts val="3824"/>
              </a:lnSpc>
            </a:pPr>
            <a:r>
              <a:rPr lang="en-US" sz="2100" dirty="0">
                <a:latin typeface="Noto Serif Japanese Extra-Light"/>
                <a:ea typeface="Noto Serif Japanese Extra-Light"/>
                <a:cs typeface="Noto Serif Japanese Extra-Light"/>
                <a:sym typeface="Noto Serif Japanese Extra-Light"/>
              </a:rPr>
              <a:t>identify patterns in customer demographics, satisfaction, product importance, shipping preferences, delivery performance and warehouse usage, while also uncovering additional insights that can support business decision-making.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3499" y="-12697"/>
            <a:ext cx="18414997" cy="10413997"/>
          </a:xfrm>
          <a:custGeom>
            <a:avLst/>
            <a:gdLst/>
            <a:ahLst/>
            <a:cxnLst/>
            <a:rect l="l" t="t" r="r" b="b"/>
            <a:pathLst>
              <a:path w="18414997" h="10413997">
                <a:moveTo>
                  <a:pt x="0" y="0"/>
                </a:moveTo>
                <a:lnTo>
                  <a:pt x="18414997" y="0"/>
                </a:lnTo>
                <a:lnTo>
                  <a:pt x="18414997" y="10413997"/>
                </a:lnTo>
                <a:lnTo>
                  <a:pt x="0" y="104139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5" name="TextBox 5"/>
          <p:cNvSpPr txBox="1"/>
          <p:nvPr/>
        </p:nvSpPr>
        <p:spPr>
          <a:xfrm>
            <a:off x="949328" y="4352801"/>
            <a:ext cx="10556929" cy="1447800"/>
          </a:xfrm>
          <a:prstGeom prst="rect">
            <a:avLst/>
          </a:prstGeom>
        </p:spPr>
        <p:txBody>
          <a:bodyPr lIns="0" tIns="0" rIns="0" bIns="0" rtlCol="0" anchor="t">
            <a:spAutoFit/>
          </a:bodyPr>
          <a:lstStyle/>
          <a:p>
            <a:pPr algn="l">
              <a:lnSpc>
                <a:spcPts val="5698"/>
              </a:lnSpc>
            </a:pPr>
            <a:r>
              <a:rPr lang="en-US" sz="4050" b="1" dirty="0">
                <a:solidFill>
                  <a:srgbClr val="111111"/>
                </a:solidFill>
                <a:latin typeface="Times New Roman" panose="02020603050405020304" pitchFamily="18" charset="0"/>
                <a:ea typeface="Noto Serif Japanese Extra-Light"/>
                <a:cs typeface="Times New Roman" panose="02020603050405020304" pitchFamily="18" charset="0"/>
                <a:sym typeface="Noto Serif Japanese Extra-Light"/>
              </a:rPr>
              <a:t>10,999 orders </a:t>
            </a:r>
            <a:r>
              <a:rPr lang="en-US" sz="4050" b="1" dirty="0" err="1">
                <a:solidFill>
                  <a:srgbClr val="111111"/>
                </a:solidFill>
                <a:latin typeface="Times New Roman" panose="02020603050405020304" pitchFamily="18" charset="0"/>
                <a:ea typeface="Noto Serif Japanese Extra-Light"/>
                <a:cs typeface="Times New Roman" panose="02020603050405020304" pitchFamily="18" charset="0"/>
                <a:sym typeface="Noto Serif Japanese Extra-Light"/>
              </a:rPr>
              <a:t>analysed</a:t>
            </a:r>
            <a:r>
              <a:rPr lang="en-US" sz="4050" b="1" dirty="0">
                <a:solidFill>
                  <a:srgbClr val="111111"/>
                </a:solidFill>
                <a:latin typeface="Times New Roman" panose="02020603050405020304" pitchFamily="18" charset="0"/>
                <a:ea typeface="Noto Serif Japanese Extra-Light"/>
                <a:cs typeface="Times New Roman" panose="02020603050405020304" pitchFamily="18" charset="0"/>
                <a:sym typeface="Noto Serif Japanese Extra-Light"/>
              </a:rPr>
              <a:t> — but only 4 in 10 arrived on time.</a:t>
            </a:r>
          </a:p>
        </p:txBody>
      </p:sp>
      <p:sp>
        <p:nvSpPr>
          <p:cNvPr id="6" name="TextBox 6"/>
          <p:cNvSpPr txBox="1"/>
          <p:nvPr/>
        </p:nvSpPr>
        <p:spPr>
          <a:xfrm>
            <a:off x="14005884" y="7581818"/>
            <a:ext cx="2246062" cy="567656"/>
          </a:xfrm>
          <a:prstGeom prst="rect">
            <a:avLst/>
          </a:prstGeom>
        </p:spPr>
        <p:txBody>
          <a:bodyPr wrap="square" lIns="0" tIns="0" rIns="0" bIns="0" rtlCol="0" anchor="t">
            <a:spAutoFit/>
          </a:bodyPr>
          <a:lstStyle/>
          <a:p>
            <a:pPr algn="l">
              <a:lnSpc>
                <a:spcPts val="900"/>
              </a:lnSpc>
            </a:pPr>
            <a:r>
              <a:rPr lang="en-US" sz="1800" spc="318" dirty="0">
                <a:solidFill>
                  <a:srgbClr val="111111"/>
                </a:solidFill>
                <a:latin typeface="Work Sans"/>
                <a:ea typeface="Work Sans"/>
                <a:cs typeface="Work Sans"/>
                <a:sym typeface="Work Sans"/>
              </a:rPr>
              <a:t>TOTAL PAID</a:t>
            </a:r>
          </a:p>
          <a:p>
            <a:pPr algn="l">
              <a:lnSpc>
                <a:spcPts val="1050"/>
              </a:lnSpc>
            </a:pPr>
            <a:endParaRPr lang="en-US" sz="2100" dirty="0">
              <a:solidFill>
                <a:srgbClr val="252525"/>
              </a:solidFill>
              <a:latin typeface="Noto Serif Japanese Extra-Light"/>
              <a:ea typeface="Noto Serif Japanese Extra-Light"/>
              <a:cs typeface="Noto Serif Japanese Extra-Light"/>
              <a:sym typeface="Noto Serif Japanese Extra-Light"/>
            </a:endParaRPr>
          </a:p>
          <a:p>
            <a:pPr algn="l">
              <a:lnSpc>
                <a:spcPts val="1050"/>
              </a:lnSpc>
            </a:pPr>
            <a:endParaRPr lang="en-US" sz="2100" dirty="0">
              <a:solidFill>
                <a:srgbClr val="252525"/>
              </a:solidFill>
              <a:latin typeface="Noto Serif Japanese Extra-Light"/>
              <a:ea typeface="Noto Serif Japanese Extra-Light"/>
              <a:cs typeface="Noto Serif Japanese Extra-Light"/>
              <a:sym typeface="Noto Serif Japanese Extra-Light"/>
            </a:endParaRPr>
          </a:p>
          <a:p>
            <a:pPr algn="l">
              <a:lnSpc>
                <a:spcPts val="1050"/>
              </a:lnSpc>
            </a:pPr>
            <a:r>
              <a:rPr lang="en-US" sz="2100" dirty="0">
                <a:solidFill>
                  <a:srgbClr val="252525"/>
                </a:solidFill>
                <a:latin typeface="Noto Serif Japanese Extra-Light"/>
                <a:ea typeface="Noto Serif Japanese Extra-Light"/>
                <a:cs typeface="Noto Serif Japanese Extra-Light"/>
                <a:sym typeface="Noto Serif Japanese Extra-Light"/>
              </a:rPr>
              <a:t>2M</a:t>
            </a:r>
          </a:p>
        </p:txBody>
      </p:sp>
      <p:sp>
        <p:nvSpPr>
          <p:cNvPr id="7" name="TextBox 7"/>
          <p:cNvSpPr txBox="1"/>
          <p:nvPr/>
        </p:nvSpPr>
        <p:spPr>
          <a:xfrm>
            <a:off x="14005884" y="3964996"/>
            <a:ext cx="2529516" cy="708720"/>
          </a:xfrm>
          <a:prstGeom prst="rect">
            <a:avLst/>
          </a:prstGeom>
        </p:spPr>
        <p:txBody>
          <a:bodyPr wrap="square" lIns="0" tIns="0" rIns="0" bIns="0" rtlCol="0" anchor="t">
            <a:spAutoFit/>
          </a:bodyPr>
          <a:lstStyle/>
          <a:p>
            <a:pPr algn="l">
              <a:lnSpc>
                <a:spcPts val="900"/>
              </a:lnSpc>
            </a:pPr>
            <a:r>
              <a:rPr lang="en-US" sz="1800" spc="342" dirty="0">
                <a:solidFill>
                  <a:srgbClr val="111111"/>
                </a:solidFill>
                <a:latin typeface="Work Sans"/>
                <a:ea typeface="Work Sans"/>
                <a:cs typeface="Work Sans"/>
                <a:sym typeface="Work Sans"/>
              </a:rPr>
              <a:t>ON-TIME RATE</a:t>
            </a:r>
            <a:endParaRPr lang="en-US" sz="2100" dirty="0">
              <a:solidFill>
                <a:srgbClr val="252525"/>
              </a:solidFill>
              <a:latin typeface="Noto Serif Japanese Extra-Light"/>
              <a:ea typeface="Noto Serif Japanese Extra-Light"/>
              <a:cs typeface="Noto Serif Japanese Extra-Light"/>
              <a:sym typeface="Noto Serif Japanese Extra-Light"/>
            </a:endParaRPr>
          </a:p>
          <a:p>
            <a:pPr algn="l">
              <a:lnSpc>
                <a:spcPts val="1050"/>
              </a:lnSpc>
            </a:pPr>
            <a:endParaRPr lang="en-US" sz="2100" dirty="0">
              <a:solidFill>
                <a:srgbClr val="252525"/>
              </a:solidFill>
              <a:latin typeface="Noto Serif Japanese Extra-Light"/>
              <a:ea typeface="Noto Serif Japanese Extra-Light"/>
              <a:cs typeface="Noto Serif Japanese Extra-Light"/>
              <a:sym typeface="Noto Serif Japanese Extra-Light"/>
            </a:endParaRPr>
          </a:p>
          <a:p>
            <a:pPr algn="l">
              <a:lnSpc>
                <a:spcPts val="1050"/>
              </a:lnSpc>
            </a:pPr>
            <a:endParaRPr lang="en-US" sz="2100" dirty="0">
              <a:solidFill>
                <a:srgbClr val="252525"/>
              </a:solidFill>
              <a:latin typeface="Noto Serif Japanese Extra-Light"/>
              <a:ea typeface="Noto Serif Japanese Extra-Light"/>
              <a:cs typeface="Noto Serif Japanese Extra-Light"/>
              <a:sym typeface="Noto Serif Japanese Extra-Light"/>
            </a:endParaRPr>
          </a:p>
          <a:p>
            <a:pPr algn="l">
              <a:lnSpc>
                <a:spcPts val="1050"/>
              </a:lnSpc>
            </a:pPr>
            <a:endParaRPr lang="en-US" sz="2100" dirty="0">
              <a:solidFill>
                <a:srgbClr val="252525"/>
              </a:solidFill>
              <a:latin typeface="Noto Serif Japanese Extra-Light"/>
              <a:ea typeface="Noto Serif Japanese Extra-Light"/>
              <a:cs typeface="Noto Serif Japanese Extra-Light"/>
              <a:sym typeface="Noto Serif Japanese Extra-Light"/>
            </a:endParaRPr>
          </a:p>
          <a:p>
            <a:pPr algn="l">
              <a:lnSpc>
                <a:spcPts val="1050"/>
              </a:lnSpc>
            </a:pPr>
            <a:r>
              <a:rPr lang="en-US" sz="2100" dirty="0">
                <a:solidFill>
                  <a:srgbClr val="252525"/>
                </a:solidFill>
                <a:latin typeface="Noto Serif Japanese Extra-Light"/>
                <a:ea typeface="Noto Serif Japanese Extra-Light"/>
                <a:cs typeface="Noto Serif Japanese Extra-Light"/>
                <a:sym typeface="Noto Serif Japanese Extra-Light"/>
              </a:rPr>
              <a:t>40.3%</a:t>
            </a:r>
          </a:p>
        </p:txBody>
      </p:sp>
      <p:sp>
        <p:nvSpPr>
          <p:cNvPr id="8" name="TextBox 8"/>
          <p:cNvSpPr txBox="1"/>
          <p:nvPr/>
        </p:nvSpPr>
        <p:spPr>
          <a:xfrm>
            <a:off x="14005884" y="1974418"/>
            <a:ext cx="2246062" cy="567656"/>
          </a:xfrm>
          <a:prstGeom prst="rect">
            <a:avLst/>
          </a:prstGeom>
        </p:spPr>
        <p:txBody>
          <a:bodyPr lIns="0" tIns="0" rIns="0" bIns="0" rtlCol="0" anchor="t">
            <a:spAutoFit/>
          </a:bodyPr>
          <a:lstStyle/>
          <a:p>
            <a:pPr algn="l">
              <a:lnSpc>
                <a:spcPts val="900"/>
              </a:lnSpc>
            </a:pPr>
            <a:r>
              <a:rPr lang="en-US" sz="1800" spc="327" dirty="0">
                <a:solidFill>
                  <a:srgbClr val="111111"/>
                </a:solidFill>
                <a:latin typeface="Work Sans"/>
                <a:ea typeface="Work Sans"/>
                <a:cs typeface="Work Sans"/>
                <a:sym typeface="Work Sans"/>
              </a:rPr>
              <a:t>TOTAL ORDERS</a:t>
            </a:r>
          </a:p>
          <a:p>
            <a:pPr algn="l">
              <a:lnSpc>
                <a:spcPts val="1050"/>
              </a:lnSpc>
            </a:pPr>
            <a:endParaRPr lang="en-US" sz="2100" dirty="0">
              <a:solidFill>
                <a:srgbClr val="111111"/>
              </a:solidFill>
              <a:latin typeface="Noto Serif Japanese Extra-Light"/>
              <a:ea typeface="Noto Serif Japanese Extra-Light"/>
              <a:cs typeface="Noto Serif Japanese Extra-Light"/>
              <a:sym typeface="Noto Serif Japanese Extra-Light"/>
            </a:endParaRPr>
          </a:p>
          <a:p>
            <a:pPr algn="l">
              <a:lnSpc>
                <a:spcPts val="1050"/>
              </a:lnSpc>
            </a:pPr>
            <a:endParaRPr lang="en-US" sz="2100" dirty="0">
              <a:solidFill>
                <a:srgbClr val="111111"/>
              </a:solidFill>
              <a:latin typeface="Noto Serif Japanese Extra-Light"/>
              <a:ea typeface="Noto Serif Japanese Extra-Light"/>
              <a:cs typeface="Noto Serif Japanese Extra-Light"/>
              <a:sym typeface="Noto Serif Japanese Extra-Light"/>
            </a:endParaRPr>
          </a:p>
          <a:p>
            <a:pPr algn="l">
              <a:lnSpc>
                <a:spcPts val="1050"/>
              </a:lnSpc>
            </a:pPr>
            <a:r>
              <a:rPr lang="en-US" sz="2100" dirty="0">
                <a:solidFill>
                  <a:srgbClr val="111111"/>
                </a:solidFill>
                <a:latin typeface="Noto Serif Japanese Extra-Light"/>
                <a:ea typeface="Noto Serif Japanese Extra-Light"/>
                <a:cs typeface="Noto Serif Japanese Extra-Light"/>
                <a:sym typeface="Noto Serif Japanese Extra-Light"/>
              </a:rPr>
              <a:t>10,999</a:t>
            </a:r>
          </a:p>
        </p:txBody>
      </p:sp>
      <p:sp>
        <p:nvSpPr>
          <p:cNvPr id="9" name="TextBox 9"/>
          <p:cNvSpPr txBox="1"/>
          <p:nvPr/>
        </p:nvSpPr>
        <p:spPr>
          <a:xfrm>
            <a:off x="14005884" y="5773407"/>
            <a:ext cx="2812752" cy="708720"/>
          </a:xfrm>
          <a:prstGeom prst="rect">
            <a:avLst/>
          </a:prstGeom>
        </p:spPr>
        <p:txBody>
          <a:bodyPr wrap="square" lIns="0" tIns="0" rIns="0" bIns="0" rtlCol="0" anchor="t">
            <a:spAutoFit/>
          </a:bodyPr>
          <a:lstStyle/>
          <a:p>
            <a:pPr algn="l">
              <a:lnSpc>
                <a:spcPts val="900"/>
              </a:lnSpc>
            </a:pPr>
            <a:r>
              <a:rPr lang="en-US" sz="1800" spc="342" dirty="0">
                <a:solidFill>
                  <a:srgbClr val="111111"/>
                </a:solidFill>
                <a:latin typeface="Work Sans"/>
                <a:ea typeface="Work Sans"/>
                <a:cs typeface="Work Sans"/>
                <a:sym typeface="Work Sans"/>
              </a:rPr>
              <a:t>AVG ORDER VALUE</a:t>
            </a:r>
          </a:p>
          <a:p>
            <a:pPr algn="l">
              <a:lnSpc>
                <a:spcPts val="1050"/>
              </a:lnSpc>
            </a:pPr>
            <a:endParaRPr lang="en-US" sz="2100" dirty="0">
              <a:solidFill>
                <a:srgbClr val="111111"/>
              </a:solidFill>
              <a:latin typeface="Noto Serif Japanese Extra-Light"/>
              <a:ea typeface="Noto Serif Japanese Extra-Light"/>
              <a:cs typeface="Noto Serif Japanese Extra-Light"/>
              <a:sym typeface="Noto Serif Japanese Extra-Light"/>
            </a:endParaRPr>
          </a:p>
          <a:p>
            <a:pPr algn="l">
              <a:lnSpc>
                <a:spcPts val="1050"/>
              </a:lnSpc>
            </a:pPr>
            <a:endParaRPr lang="en-US" sz="2100" dirty="0">
              <a:solidFill>
                <a:srgbClr val="111111"/>
              </a:solidFill>
              <a:latin typeface="Noto Serif Japanese Extra-Light"/>
              <a:ea typeface="Noto Serif Japanese Extra-Light"/>
              <a:cs typeface="Noto Serif Japanese Extra-Light"/>
              <a:sym typeface="Noto Serif Japanese Extra-Light"/>
            </a:endParaRPr>
          </a:p>
          <a:p>
            <a:pPr algn="l">
              <a:lnSpc>
                <a:spcPts val="1050"/>
              </a:lnSpc>
            </a:pPr>
            <a:endParaRPr lang="en-US" sz="2100" dirty="0">
              <a:solidFill>
                <a:srgbClr val="111111"/>
              </a:solidFill>
              <a:latin typeface="Noto Serif Japanese Extra-Light"/>
              <a:ea typeface="Noto Serif Japanese Extra-Light"/>
              <a:cs typeface="Noto Serif Japanese Extra-Light"/>
              <a:sym typeface="Noto Serif Japanese Extra-Light"/>
            </a:endParaRPr>
          </a:p>
          <a:p>
            <a:pPr algn="l">
              <a:lnSpc>
                <a:spcPts val="1050"/>
              </a:lnSpc>
            </a:pPr>
            <a:r>
              <a:rPr lang="en-US" sz="2100" dirty="0">
                <a:solidFill>
                  <a:srgbClr val="111111"/>
                </a:solidFill>
                <a:latin typeface="Noto Serif Japanese Extra-Light"/>
                <a:ea typeface="Noto Serif Japanese Extra-Light"/>
                <a:cs typeface="Noto Serif Japanese Extra-Light"/>
                <a:sym typeface="Noto Serif Japanese Extra-Light"/>
              </a:rPr>
              <a:t>204.94</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3503" y="-63503"/>
            <a:ext cx="18414997" cy="10413997"/>
          </a:xfrm>
          <a:custGeom>
            <a:avLst/>
            <a:gdLst/>
            <a:ahLst/>
            <a:cxnLst/>
            <a:rect l="l" t="t" r="r" b="b"/>
            <a:pathLst>
              <a:path w="18414997" h="10413997">
                <a:moveTo>
                  <a:pt x="0" y="0"/>
                </a:moveTo>
                <a:lnTo>
                  <a:pt x="18414997" y="0"/>
                </a:lnTo>
                <a:lnTo>
                  <a:pt x="18414997" y="10413997"/>
                </a:lnTo>
                <a:lnTo>
                  <a:pt x="0" y="104139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TextBox 5"/>
          <p:cNvSpPr txBox="1"/>
          <p:nvPr/>
        </p:nvSpPr>
        <p:spPr>
          <a:xfrm>
            <a:off x="3544091" y="963197"/>
            <a:ext cx="6036354" cy="334118"/>
          </a:xfrm>
          <a:prstGeom prst="rect">
            <a:avLst/>
          </a:prstGeom>
        </p:spPr>
        <p:txBody>
          <a:bodyPr lIns="0" tIns="0" rIns="0" bIns="0" rtlCol="0" anchor="t">
            <a:spAutoFit/>
          </a:bodyPr>
          <a:lstStyle/>
          <a:p>
            <a:pPr algn="l">
              <a:lnSpc>
                <a:spcPts val="2520"/>
              </a:lnSpc>
            </a:pPr>
            <a:r>
              <a:rPr lang="en-US" sz="1800" spc="363">
                <a:solidFill>
                  <a:srgbClr val="111111"/>
                </a:solidFill>
                <a:latin typeface="Work Sans"/>
                <a:ea typeface="Work Sans"/>
                <a:cs typeface="Work Sans"/>
                <a:sym typeface="Work Sans"/>
              </a:rPr>
              <a:t>SHIPMENT COMPLETION PERFORMANCE</a:t>
            </a:r>
          </a:p>
        </p:txBody>
      </p:sp>
      <p:sp>
        <p:nvSpPr>
          <p:cNvPr id="6" name="TextBox 6"/>
          <p:cNvSpPr txBox="1"/>
          <p:nvPr/>
        </p:nvSpPr>
        <p:spPr>
          <a:xfrm>
            <a:off x="14001750" y="896522"/>
            <a:ext cx="3054086" cy="3905822"/>
          </a:xfrm>
          <a:prstGeom prst="rect">
            <a:avLst/>
          </a:prstGeom>
        </p:spPr>
        <p:txBody>
          <a:bodyPr lIns="0" tIns="0" rIns="0" bIns="0" rtlCol="0" anchor="t">
            <a:spAutoFit/>
          </a:bodyPr>
          <a:lstStyle/>
          <a:p>
            <a:pPr algn="l">
              <a:lnSpc>
                <a:spcPts val="3232"/>
              </a:lnSpc>
            </a:pPr>
            <a:r>
              <a:rPr lang="en-US" sz="1800" spc="329">
                <a:solidFill>
                  <a:srgbClr val="111111"/>
                </a:solidFill>
                <a:latin typeface="Work Sans"/>
                <a:ea typeface="Work Sans"/>
                <a:cs typeface="Work Sans"/>
                <a:sym typeface="Work Sans"/>
              </a:rPr>
              <a:t>ABOUT THE DATA</a:t>
            </a:r>
          </a:p>
          <a:p>
            <a:pPr algn="l">
              <a:lnSpc>
                <a:spcPts val="3771"/>
              </a:lnSpc>
            </a:pPr>
            <a:r>
              <a:rPr lang="en-US" sz="2100">
                <a:solidFill>
                  <a:srgbClr val="111111"/>
                </a:solidFill>
                <a:latin typeface="Noto Serif Japanese Extra-Light"/>
                <a:ea typeface="Noto Serif Japanese Extra-Light"/>
                <a:cs typeface="Noto Serif Japanese Extra-Light"/>
                <a:sym typeface="Noto Serif Japanese Extra-Light"/>
              </a:rPr>
              <a:t>59.67% of orders (6.56K) were delayed, while 40.33% (4.44K) arrived on time — delivery reliability is the biggest operational gap.</a:t>
            </a:r>
          </a:p>
        </p:txBody>
      </p:sp>
      <p:sp>
        <p:nvSpPr>
          <p:cNvPr id="7" name="TextBox 7"/>
          <p:cNvSpPr txBox="1"/>
          <p:nvPr/>
        </p:nvSpPr>
        <p:spPr>
          <a:xfrm>
            <a:off x="2086356" y="3822392"/>
            <a:ext cx="1062971" cy="600694"/>
          </a:xfrm>
          <a:prstGeom prst="rect">
            <a:avLst/>
          </a:prstGeom>
        </p:spPr>
        <p:txBody>
          <a:bodyPr lIns="0" tIns="0" rIns="0" bIns="0" rtlCol="0" anchor="t">
            <a:spAutoFit/>
          </a:bodyPr>
          <a:lstStyle/>
          <a:p>
            <a:pPr algn="r">
              <a:lnSpc>
                <a:spcPts val="2300"/>
              </a:lnSpc>
            </a:pPr>
            <a:r>
              <a:rPr lang="en-US" sz="2099">
                <a:solidFill>
                  <a:srgbClr val="111111"/>
                </a:solidFill>
                <a:latin typeface="Work Sans"/>
                <a:ea typeface="Work Sans"/>
                <a:cs typeface="Work Sans"/>
                <a:sym typeface="Work Sans"/>
              </a:rPr>
              <a:t>On time 4440</a:t>
            </a:r>
          </a:p>
        </p:txBody>
      </p:sp>
      <p:sp>
        <p:nvSpPr>
          <p:cNvPr id="8" name="TextBox 8"/>
          <p:cNvSpPr txBox="1"/>
          <p:nvPr/>
        </p:nvSpPr>
        <p:spPr>
          <a:xfrm>
            <a:off x="9925374" y="5917873"/>
            <a:ext cx="1044902" cy="600694"/>
          </a:xfrm>
          <a:prstGeom prst="rect">
            <a:avLst/>
          </a:prstGeom>
        </p:spPr>
        <p:txBody>
          <a:bodyPr lIns="0" tIns="0" rIns="0" bIns="0" rtlCol="0" anchor="t">
            <a:spAutoFit/>
          </a:bodyPr>
          <a:lstStyle/>
          <a:p>
            <a:pPr algn="l">
              <a:lnSpc>
                <a:spcPts val="2300"/>
              </a:lnSpc>
            </a:pPr>
            <a:r>
              <a:rPr lang="en-US" sz="2099">
                <a:solidFill>
                  <a:srgbClr val="111111"/>
                </a:solidFill>
                <a:latin typeface="Work Sans"/>
                <a:ea typeface="Work Sans"/>
                <a:cs typeface="Work Sans"/>
                <a:sym typeface="Work Sans"/>
              </a:rPr>
              <a:t>Delayed 6560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3499" y="-63499"/>
            <a:ext cx="18414997" cy="10413997"/>
          </a:xfrm>
          <a:custGeom>
            <a:avLst/>
            <a:gdLst/>
            <a:ahLst/>
            <a:cxnLst/>
            <a:rect l="l" t="t" r="r" b="b"/>
            <a:pathLst>
              <a:path w="18414997" h="10413997">
                <a:moveTo>
                  <a:pt x="0" y="0"/>
                </a:moveTo>
                <a:lnTo>
                  <a:pt x="18414997" y="0"/>
                </a:lnTo>
                <a:lnTo>
                  <a:pt x="18414997" y="10413997"/>
                </a:lnTo>
                <a:lnTo>
                  <a:pt x="0" y="104139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5" name="TextBox 5"/>
          <p:cNvSpPr txBox="1"/>
          <p:nvPr/>
        </p:nvSpPr>
        <p:spPr>
          <a:xfrm>
            <a:off x="4413514" y="9033672"/>
            <a:ext cx="9654645" cy="294568"/>
          </a:xfrm>
          <a:prstGeom prst="rect">
            <a:avLst/>
          </a:prstGeom>
        </p:spPr>
        <p:txBody>
          <a:bodyPr lIns="0" tIns="0" rIns="0" bIns="0" rtlCol="0" anchor="t">
            <a:spAutoFit/>
          </a:bodyPr>
          <a:lstStyle/>
          <a:p>
            <a:pPr algn="l">
              <a:lnSpc>
                <a:spcPts val="2520"/>
              </a:lnSpc>
            </a:pPr>
            <a:r>
              <a:rPr lang="en-US" dirty="0">
                <a:solidFill>
                  <a:srgbClr val="444444"/>
                </a:solidFill>
                <a:latin typeface="Times New Roman" panose="02020603050405020304" pitchFamily="18" charset="0"/>
                <a:ea typeface="Noto Serif Japanese Extra-Light"/>
                <a:cs typeface="Times New Roman" panose="02020603050405020304" pitchFamily="18" charset="0"/>
                <a:sym typeface="Noto Serif Japanese Extra-Light"/>
              </a:rPr>
              <a:t>Ship is by far the most used mode; Flight and Road are roughly equal (approx. values)</a:t>
            </a:r>
          </a:p>
        </p:txBody>
      </p:sp>
      <p:sp>
        <p:nvSpPr>
          <p:cNvPr id="6" name="TextBox 6"/>
          <p:cNvSpPr txBox="1"/>
          <p:nvPr/>
        </p:nvSpPr>
        <p:spPr>
          <a:xfrm>
            <a:off x="6687264" y="963197"/>
            <a:ext cx="4959725" cy="334118"/>
          </a:xfrm>
          <a:prstGeom prst="rect">
            <a:avLst/>
          </a:prstGeom>
        </p:spPr>
        <p:txBody>
          <a:bodyPr lIns="0" tIns="0" rIns="0" bIns="0" rtlCol="0" anchor="t">
            <a:spAutoFit/>
          </a:bodyPr>
          <a:lstStyle/>
          <a:p>
            <a:pPr algn="l">
              <a:lnSpc>
                <a:spcPts val="2520"/>
              </a:lnSpc>
            </a:pPr>
            <a:r>
              <a:rPr lang="en-US" sz="1800" spc="358">
                <a:solidFill>
                  <a:srgbClr val="111111"/>
                </a:solidFill>
                <a:latin typeface="Work Sans"/>
                <a:ea typeface="Work Sans"/>
                <a:cs typeface="Work Sans"/>
                <a:sym typeface="Work Sans"/>
              </a:rPr>
              <a:t>PREFERRED MODE OF SHIPMENT</a:t>
            </a:r>
          </a:p>
        </p:txBody>
      </p:sp>
      <p:sp>
        <p:nvSpPr>
          <p:cNvPr id="7" name="TextBox 7"/>
          <p:cNvSpPr txBox="1"/>
          <p:nvPr/>
        </p:nvSpPr>
        <p:spPr>
          <a:xfrm>
            <a:off x="2598620" y="3078574"/>
            <a:ext cx="653710" cy="249812"/>
          </a:xfrm>
          <a:prstGeom prst="rect">
            <a:avLst/>
          </a:prstGeom>
        </p:spPr>
        <p:txBody>
          <a:bodyPr wrap="square" lIns="0" tIns="0" rIns="0" bIns="0" rtlCol="0" anchor="t">
            <a:spAutoFit/>
          </a:bodyPr>
          <a:lstStyle/>
          <a:p>
            <a:pPr algn="l">
              <a:lnSpc>
                <a:spcPts val="2098"/>
              </a:lnSpc>
            </a:pPr>
            <a:r>
              <a:rPr lang="en-US" sz="1499" dirty="0">
                <a:solidFill>
                  <a:srgbClr val="111111"/>
                </a:solidFill>
                <a:latin typeface="Work Sans"/>
                <a:ea typeface="Work Sans"/>
                <a:cs typeface="Work Sans"/>
                <a:sym typeface="Work Sans"/>
              </a:rPr>
              <a:t>8000</a:t>
            </a:r>
          </a:p>
        </p:txBody>
      </p:sp>
      <p:sp>
        <p:nvSpPr>
          <p:cNvPr id="8" name="TextBox 8"/>
          <p:cNvSpPr txBox="1"/>
          <p:nvPr/>
        </p:nvSpPr>
        <p:spPr>
          <a:xfrm>
            <a:off x="2598620" y="4199373"/>
            <a:ext cx="653710" cy="249812"/>
          </a:xfrm>
          <a:prstGeom prst="rect">
            <a:avLst/>
          </a:prstGeom>
        </p:spPr>
        <p:txBody>
          <a:bodyPr wrap="square" lIns="0" tIns="0" rIns="0" bIns="0" rtlCol="0" anchor="t">
            <a:spAutoFit/>
          </a:bodyPr>
          <a:lstStyle/>
          <a:p>
            <a:pPr algn="l">
              <a:lnSpc>
                <a:spcPts val="2098"/>
              </a:lnSpc>
            </a:pPr>
            <a:r>
              <a:rPr lang="en-US" sz="1499" dirty="0">
                <a:solidFill>
                  <a:srgbClr val="111111"/>
                </a:solidFill>
                <a:latin typeface="Work Sans"/>
                <a:ea typeface="Work Sans"/>
                <a:cs typeface="Work Sans"/>
                <a:sym typeface="Work Sans"/>
              </a:rPr>
              <a:t>6000</a:t>
            </a:r>
          </a:p>
        </p:txBody>
      </p:sp>
      <p:sp>
        <p:nvSpPr>
          <p:cNvPr id="9" name="TextBox 9"/>
          <p:cNvSpPr txBox="1"/>
          <p:nvPr/>
        </p:nvSpPr>
        <p:spPr>
          <a:xfrm>
            <a:off x="2598620" y="5289194"/>
            <a:ext cx="653710" cy="249812"/>
          </a:xfrm>
          <a:prstGeom prst="rect">
            <a:avLst/>
          </a:prstGeom>
        </p:spPr>
        <p:txBody>
          <a:bodyPr wrap="square" lIns="0" tIns="0" rIns="0" bIns="0" rtlCol="0" anchor="t">
            <a:spAutoFit/>
          </a:bodyPr>
          <a:lstStyle/>
          <a:p>
            <a:pPr algn="l">
              <a:lnSpc>
                <a:spcPts val="2098"/>
              </a:lnSpc>
            </a:pPr>
            <a:r>
              <a:rPr lang="en-US" sz="1499" dirty="0">
                <a:solidFill>
                  <a:srgbClr val="111111"/>
                </a:solidFill>
                <a:latin typeface="Work Sans"/>
                <a:ea typeface="Work Sans"/>
                <a:cs typeface="Work Sans"/>
                <a:sym typeface="Work Sans"/>
              </a:rPr>
              <a:t>4000</a:t>
            </a:r>
          </a:p>
        </p:txBody>
      </p:sp>
      <p:sp>
        <p:nvSpPr>
          <p:cNvPr id="10" name="TextBox 10"/>
          <p:cNvSpPr txBox="1"/>
          <p:nvPr/>
        </p:nvSpPr>
        <p:spPr>
          <a:xfrm>
            <a:off x="2781776" y="6394494"/>
            <a:ext cx="470554" cy="265300"/>
          </a:xfrm>
          <a:prstGeom prst="rect">
            <a:avLst/>
          </a:prstGeom>
        </p:spPr>
        <p:txBody>
          <a:bodyPr lIns="0" tIns="0" rIns="0" bIns="0" rtlCol="0" anchor="t">
            <a:spAutoFit/>
          </a:bodyPr>
          <a:lstStyle/>
          <a:p>
            <a:pPr algn="l">
              <a:lnSpc>
                <a:spcPts val="2098"/>
              </a:lnSpc>
            </a:pPr>
            <a:r>
              <a:rPr lang="en-US" sz="1499">
                <a:solidFill>
                  <a:srgbClr val="111111"/>
                </a:solidFill>
                <a:latin typeface="Work Sans"/>
                <a:ea typeface="Work Sans"/>
                <a:cs typeface="Work Sans"/>
                <a:sym typeface="Work Sans"/>
              </a:rPr>
              <a:t>2000</a:t>
            </a:r>
          </a:p>
        </p:txBody>
      </p:sp>
      <p:sp>
        <p:nvSpPr>
          <p:cNvPr id="11" name="TextBox 11"/>
          <p:cNvSpPr txBox="1"/>
          <p:nvPr/>
        </p:nvSpPr>
        <p:spPr>
          <a:xfrm>
            <a:off x="3124676" y="7499804"/>
            <a:ext cx="120796" cy="265300"/>
          </a:xfrm>
          <a:prstGeom prst="rect">
            <a:avLst/>
          </a:prstGeom>
        </p:spPr>
        <p:txBody>
          <a:bodyPr lIns="0" tIns="0" rIns="0" bIns="0" rtlCol="0" anchor="t">
            <a:spAutoFit/>
          </a:bodyPr>
          <a:lstStyle/>
          <a:p>
            <a:pPr algn="l">
              <a:lnSpc>
                <a:spcPts val="2098"/>
              </a:lnSpc>
            </a:pPr>
            <a:r>
              <a:rPr lang="en-US" sz="1499">
                <a:solidFill>
                  <a:srgbClr val="111111"/>
                </a:solidFill>
                <a:latin typeface="Work Sans"/>
                <a:ea typeface="Work Sans"/>
                <a:cs typeface="Work Sans"/>
                <a:sym typeface="Work Sans"/>
              </a:rPr>
              <a:t>0</a:t>
            </a:r>
          </a:p>
        </p:txBody>
      </p:sp>
      <p:sp>
        <p:nvSpPr>
          <p:cNvPr id="12" name="TextBox 12"/>
          <p:cNvSpPr txBox="1"/>
          <p:nvPr/>
        </p:nvSpPr>
        <p:spPr>
          <a:xfrm>
            <a:off x="5129641" y="7770152"/>
            <a:ext cx="413233" cy="265300"/>
          </a:xfrm>
          <a:prstGeom prst="rect">
            <a:avLst/>
          </a:prstGeom>
        </p:spPr>
        <p:txBody>
          <a:bodyPr lIns="0" tIns="0" rIns="0" bIns="0" rtlCol="0" anchor="t">
            <a:spAutoFit/>
          </a:bodyPr>
          <a:lstStyle/>
          <a:p>
            <a:pPr algn="l">
              <a:lnSpc>
                <a:spcPts val="2098"/>
              </a:lnSpc>
            </a:pPr>
            <a:r>
              <a:rPr lang="en-US" sz="1499">
                <a:solidFill>
                  <a:srgbClr val="111111"/>
                </a:solidFill>
                <a:latin typeface="Work Sans"/>
                <a:ea typeface="Work Sans"/>
                <a:cs typeface="Work Sans"/>
                <a:sym typeface="Work Sans"/>
              </a:rPr>
              <a:t>Ship</a:t>
            </a:r>
          </a:p>
        </p:txBody>
      </p:sp>
      <p:sp>
        <p:nvSpPr>
          <p:cNvPr id="13" name="TextBox 13"/>
          <p:cNvSpPr txBox="1"/>
          <p:nvPr/>
        </p:nvSpPr>
        <p:spPr>
          <a:xfrm>
            <a:off x="8887177" y="7770151"/>
            <a:ext cx="714023" cy="249812"/>
          </a:xfrm>
          <a:prstGeom prst="rect">
            <a:avLst/>
          </a:prstGeom>
        </p:spPr>
        <p:txBody>
          <a:bodyPr wrap="square" lIns="0" tIns="0" rIns="0" bIns="0" rtlCol="0" anchor="t">
            <a:spAutoFit/>
          </a:bodyPr>
          <a:lstStyle/>
          <a:p>
            <a:pPr algn="l">
              <a:lnSpc>
                <a:spcPts val="2098"/>
              </a:lnSpc>
            </a:pPr>
            <a:r>
              <a:rPr lang="en-US" sz="1499" dirty="0">
                <a:solidFill>
                  <a:srgbClr val="111111"/>
                </a:solidFill>
                <a:latin typeface="Work Sans"/>
                <a:ea typeface="Work Sans"/>
                <a:cs typeface="Work Sans"/>
                <a:sym typeface="Work Sans"/>
              </a:rPr>
              <a:t>Flight</a:t>
            </a:r>
          </a:p>
        </p:txBody>
      </p:sp>
      <p:sp>
        <p:nvSpPr>
          <p:cNvPr id="14" name="TextBox 14"/>
          <p:cNvSpPr txBox="1"/>
          <p:nvPr/>
        </p:nvSpPr>
        <p:spPr>
          <a:xfrm>
            <a:off x="12720914" y="7770152"/>
            <a:ext cx="471526" cy="265300"/>
          </a:xfrm>
          <a:prstGeom prst="rect">
            <a:avLst/>
          </a:prstGeom>
        </p:spPr>
        <p:txBody>
          <a:bodyPr lIns="0" tIns="0" rIns="0" bIns="0" rtlCol="0" anchor="t">
            <a:spAutoFit/>
          </a:bodyPr>
          <a:lstStyle/>
          <a:p>
            <a:pPr algn="l">
              <a:lnSpc>
                <a:spcPts val="2098"/>
              </a:lnSpc>
            </a:pPr>
            <a:r>
              <a:rPr lang="en-US" sz="1499">
                <a:solidFill>
                  <a:srgbClr val="111111"/>
                </a:solidFill>
                <a:latin typeface="Work Sans"/>
                <a:ea typeface="Work Sans"/>
                <a:cs typeface="Work Sans"/>
                <a:sym typeface="Work Sans"/>
              </a:rPr>
              <a:t>Road</a:t>
            </a:r>
          </a:p>
        </p:txBody>
      </p:sp>
      <p:sp>
        <p:nvSpPr>
          <p:cNvPr id="15" name="TextBox 15"/>
          <p:cNvSpPr txBox="1"/>
          <p:nvPr/>
        </p:nvSpPr>
        <p:spPr>
          <a:xfrm>
            <a:off x="4953001" y="3131058"/>
            <a:ext cx="653710" cy="297774"/>
          </a:xfrm>
          <a:prstGeom prst="rect">
            <a:avLst/>
          </a:prstGeom>
        </p:spPr>
        <p:txBody>
          <a:bodyPr wrap="square" lIns="0" tIns="0" rIns="0" bIns="0" rtlCol="0" anchor="t">
            <a:spAutoFit/>
          </a:bodyPr>
          <a:lstStyle/>
          <a:p>
            <a:pPr algn="l">
              <a:lnSpc>
                <a:spcPts val="2518"/>
              </a:lnSpc>
            </a:pPr>
            <a:r>
              <a:rPr lang="en-US" sz="1799" dirty="0">
                <a:solidFill>
                  <a:srgbClr val="111111"/>
                </a:solidFill>
                <a:latin typeface="Work Sans"/>
                <a:ea typeface="Work Sans"/>
                <a:cs typeface="Work Sans"/>
                <a:sym typeface="Work Sans"/>
              </a:rPr>
              <a:t>7462</a:t>
            </a:r>
          </a:p>
        </p:txBody>
      </p:sp>
      <p:sp>
        <p:nvSpPr>
          <p:cNvPr id="16" name="TextBox 16"/>
          <p:cNvSpPr txBox="1"/>
          <p:nvPr/>
        </p:nvSpPr>
        <p:spPr>
          <a:xfrm>
            <a:off x="8858269" y="6204071"/>
            <a:ext cx="528285" cy="297774"/>
          </a:xfrm>
          <a:prstGeom prst="rect">
            <a:avLst/>
          </a:prstGeom>
        </p:spPr>
        <p:txBody>
          <a:bodyPr wrap="square" lIns="0" tIns="0" rIns="0" bIns="0" rtlCol="0" anchor="t">
            <a:spAutoFit/>
          </a:bodyPr>
          <a:lstStyle/>
          <a:p>
            <a:pPr algn="l">
              <a:lnSpc>
                <a:spcPts val="2518"/>
              </a:lnSpc>
            </a:pPr>
            <a:r>
              <a:rPr lang="en-US" sz="1799" dirty="0">
                <a:solidFill>
                  <a:srgbClr val="111111"/>
                </a:solidFill>
                <a:latin typeface="Work Sans"/>
                <a:ea typeface="Work Sans"/>
                <a:cs typeface="Work Sans"/>
                <a:sym typeface="Work Sans"/>
              </a:rPr>
              <a:t>1777</a:t>
            </a:r>
          </a:p>
        </p:txBody>
      </p:sp>
      <p:sp>
        <p:nvSpPr>
          <p:cNvPr id="17" name="TextBox 17"/>
          <p:cNvSpPr txBox="1"/>
          <p:nvPr/>
        </p:nvSpPr>
        <p:spPr>
          <a:xfrm>
            <a:off x="12706626" y="6227293"/>
            <a:ext cx="504444" cy="320288"/>
          </a:xfrm>
          <a:prstGeom prst="rect">
            <a:avLst/>
          </a:prstGeom>
        </p:spPr>
        <p:txBody>
          <a:bodyPr lIns="0" tIns="0" rIns="0" bIns="0" rtlCol="0" anchor="t">
            <a:spAutoFit/>
          </a:bodyPr>
          <a:lstStyle/>
          <a:p>
            <a:pPr algn="l">
              <a:lnSpc>
                <a:spcPts val="2518"/>
              </a:lnSpc>
            </a:pPr>
            <a:r>
              <a:rPr lang="en-US" sz="1799" dirty="0">
                <a:solidFill>
                  <a:srgbClr val="111111"/>
                </a:solidFill>
                <a:latin typeface="Work Sans"/>
                <a:ea typeface="Work Sans"/>
                <a:cs typeface="Work Sans"/>
                <a:sym typeface="Work Sans"/>
              </a:rPr>
              <a:t>1760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6997" y="-63499"/>
            <a:ext cx="18414997" cy="10413997"/>
          </a:xfrm>
          <a:custGeom>
            <a:avLst/>
            <a:gdLst/>
            <a:ahLst/>
            <a:cxnLst/>
            <a:rect l="l" t="t" r="r" b="b"/>
            <a:pathLst>
              <a:path w="18414997" h="10413997">
                <a:moveTo>
                  <a:pt x="0" y="0"/>
                </a:moveTo>
                <a:lnTo>
                  <a:pt x="18414997" y="0"/>
                </a:lnTo>
                <a:lnTo>
                  <a:pt x="18414997" y="10413997"/>
                </a:lnTo>
                <a:lnTo>
                  <a:pt x="0" y="104139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TextBox 5"/>
          <p:cNvSpPr txBox="1"/>
          <p:nvPr/>
        </p:nvSpPr>
        <p:spPr>
          <a:xfrm>
            <a:off x="4985014" y="9033672"/>
            <a:ext cx="8488785" cy="300531"/>
          </a:xfrm>
          <a:prstGeom prst="rect">
            <a:avLst/>
          </a:prstGeom>
        </p:spPr>
        <p:txBody>
          <a:bodyPr lIns="0" tIns="0" rIns="0" bIns="0" rtlCol="0" anchor="t">
            <a:spAutoFit/>
          </a:bodyPr>
          <a:lstStyle/>
          <a:p>
            <a:pPr algn="l">
              <a:lnSpc>
                <a:spcPts val="2520"/>
              </a:lnSpc>
            </a:pPr>
            <a:r>
              <a:rPr lang="en-US" sz="2000">
                <a:solidFill>
                  <a:srgbClr val="252525"/>
                </a:solidFill>
                <a:latin typeface="Times New Roman" panose="02020603050405020304" pitchFamily="18" charset="0"/>
                <a:ea typeface="Noto Serif Japanese Extra-Light"/>
                <a:cs typeface="Times New Roman" panose="02020603050405020304" pitchFamily="18" charset="0"/>
                <a:sym typeface="Noto Serif Japanese Extra-Light"/>
              </a:rPr>
              <a:t>Block E handles about twice the volume of any other block (approx. </a:t>
            </a:r>
            <a:r>
              <a:rPr lang="en-US" sz="2000" dirty="0">
                <a:solidFill>
                  <a:srgbClr val="252525"/>
                </a:solidFill>
                <a:latin typeface="Times New Roman" panose="02020603050405020304" pitchFamily="18" charset="0"/>
                <a:ea typeface="Noto Serif Japanese Extra-Light"/>
                <a:cs typeface="Times New Roman" panose="02020603050405020304" pitchFamily="18" charset="0"/>
                <a:sym typeface="Noto Serif Japanese Extra-Light"/>
              </a:rPr>
              <a:t>values)</a:t>
            </a:r>
          </a:p>
        </p:txBody>
      </p:sp>
      <p:sp>
        <p:nvSpPr>
          <p:cNvPr id="6" name="TextBox 6"/>
          <p:cNvSpPr txBox="1"/>
          <p:nvPr/>
        </p:nvSpPr>
        <p:spPr>
          <a:xfrm>
            <a:off x="7111127" y="963197"/>
            <a:ext cx="4102970" cy="334118"/>
          </a:xfrm>
          <a:prstGeom prst="rect">
            <a:avLst/>
          </a:prstGeom>
        </p:spPr>
        <p:txBody>
          <a:bodyPr lIns="0" tIns="0" rIns="0" bIns="0" rtlCol="0" anchor="t">
            <a:spAutoFit/>
          </a:bodyPr>
          <a:lstStyle/>
          <a:p>
            <a:pPr algn="l">
              <a:lnSpc>
                <a:spcPts val="2520"/>
              </a:lnSpc>
            </a:pPr>
            <a:r>
              <a:rPr lang="en-US" sz="1800" spc="342">
                <a:solidFill>
                  <a:srgbClr val="111111"/>
                </a:solidFill>
                <a:latin typeface="Work Sans"/>
                <a:ea typeface="Work Sans"/>
                <a:cs typeface="Work Sans"/>
                <a:sym typeface="Work Sans"/>
              </a:rPr>
              <a:t>WAREHOUSE BLOCK USAGE</a:t>
            </a:r>
          </a:p>
        </p:txBody>
      </p:sp>
      <p:sp>
        <p:nvSpPr>
          <p:cNvPr id="7" name="TextBox 7"/>
          <p:cNvSpPr txBox="1"/>
          <p:nvPr/>
        </p:nvSpPr>
        <p:spPr>
          <a:xfrm>
            <a:off x="2505551" y="4406665"/>
            <a:ext cx="752104" cy="265300"/>
          </a:xfrm>
          <a:prstGeom prst="rect">
            <a:avLst/>
          </a:prstGeom>
        </p:spPr>
        <p:txBody>
          <a:bodyPr lIns="0" tIns="0" rIns="0" bIns="0" rtlCol="0" anchor="t">
            <a:spAutoFit/>
          </a:bodyPr>
          <a:lstStyle/>
          <a:p>
            <a:pPr algn="l">
              <a:lnSpc>
                <a:spcPts val="2098"/>
              </a:lnSpc>
            </a:pPr>
            <a:r>
              <a:rPr lang="en-US" sz="1499">
                <a:solidFill>
                  <a:srgbClr val="111111"/>
                </a:solidFill>
                <a:latin typeface="Work Sans"/>
                <a:ea typeface="Work Sans"/>
                <a:cs typeface="Work Sans"/>
                <a:sym typeface="Work Sans"/>
              </a:rPr>
              <a:t>Block_D</a:t>
            </a:r>
          </a:p>
        </p:txBody>
      </p:sp>
      <p:sp>
        <p:nvSpPr>
          <p:cNvPr id="8" name="TextBox 8"/>
          <p:cNvSpPr txBox="1"/>
          <p:nvPr/>
        </p:nvSpPr>
        <p:spPr>
          <a:xfrm>
            <a:off x="2505551" y="7059397"/>
            <a:ext cx="745303" cy="265300"/>
          </a:xfrm>
          <a:prstGeom prst="rect">
            <a:avLst/>
          </a:prstGeom>
        </p:spPr>
        <p:txBody>
          <a:bodyPr lIns="0" tIns="0" rIns="0" bIns="0" rtlCol="0" anchor="t">
            <a:spAutoFit/>
          </a:bodyPr>
          <a:lstStyle/>
          <a:p>
            <a:pPr algn="l">
              <a:lnSpc>
                <a:spcPts val="2098"/>
              </a:lnSpc>
            </a:pPr>
            <a:r>
              <a:rPr lang="en-US" sz="1499">
                <a:solidFill>
                  <a:srgbClr val="111111"/>
                </a:solidFill>
                <a:latin typeface="Work Sans"/>
                <a:ea typeface="Work Sans"/>
                <a:cs typeface="Work Sans"/>
                <a:sym typeface="Work Sans"/>
              </a:rPr>
              <a:t>Block_C</a:t>
            </a:r>
          </a:p>
        </p:txBody>
      </p:sp>
      <p:sp>
        <p:nvSpPr>
          <p:cNvPr id="9" name="TextBox 9"/>
          <p:cNvSpPr txBox="1"/>
          <p:nvPr/>
        </p:nvSpPr>
        <p:spPr>
          <a:xfrm>
            <a:off x="2515076" y="5290909"/>
            <a:ext cx="740254" cy="265300"/>
          </a:xfrm>
          <a:prstGeom prst="rect">
            <a:avLst/>
          </a:prstGeom>
        </p:spPr>
        <p:txBody>
          <a:bodyPr lIns="0" tIns="0" rIns="0" bIns="0" rtlCol="0" anchor="t">
            <a:spAutoFit/>
          </a:bodyPr>
          <a:lstStyle/>
          <a:p>
            <a:pPr algn="l">
              <a:lnSpc>
                <a:spcPts val="2098"/>
              </a:lnSpc>
            </a:pPr>
            <a:r>
              <a:rPr lang="en-US" sz="1499">
                <a:solidFill>
                  <a:srgbClr val="111111"/>
                </a:solidFill>
                <a:latin typeface="Work Sans"/>
                <a:ea typeface="Work Sans"/>
                <a:cs typeface="Work Sans"/>
                <a:sym typeface="Work Sans"/>
              </a:rPr>
              <a:t>Block_A</a:t>
            </a:r>
          </a:p>
        </p:txBody>
      </p:sp>
      <p:sp>
        <p:nvSpPr>
          <p:cNvPr id="10" name="TextBox 10"/>
          <p:cNvSpPr txBox="1"/>
          <p:nvPr/>
        </p:nvSpPr>
        <p:spPr>
          <a:xfrm>
            <a:off x="2515076" y="6175153"/>
            <a:ext cx="738902" cy="265300"/>
          </a:xfrm>
          <a:prstGeom prst="rect">
            <a:avLst/>
          </a:prstGeom>
        </p:spPr>
        <p:txBody>
          <a:bodyPr lIns="0" tIns="0" rIns="0" bIns="0" rtlCol="0" anchor="t">
            <a:spAutoFit/>
          </a:bodyPr>
          <a:lstStyle/>
          <a:p>
            <a:pPr algn="l">
              <a:lnSpc>
                <a:spcPts val="2098"/>
              </a:lnSpc>
            </a:pPr>
            <a:r>
              <a:rPr lang="en-US" sz="1499">
                <a:solidFill>
                  <a:srgbClr val="111111"/>
                </a:solidFill>
                <a:latin typeface="Work Sans"/>
                <a:ea typeface="Work Sans"/>
                <a:cs typeface="Work Sans"/>
                <a:sym typeface="Work Sans"/>
              </a:rPr>
              <a:t>Block_B</a:t>
            </a:r>
          </a:p>
        </p:txBody>
      </p:sp>
      <p:sp>
        <p:nvSpPr>
          <p:cNvPr id="11" name="TextBox 11"/>
          <p:cNvSpPr txBox="1"/>
          <p:nvPr/>
        </p:nvSpPr>
        <p:spPr>
          <a:xfrm>
            <a:off x="2362201" y="3485293"/>
            <a:ext cx="745303" cy="249812"/>
          </a:xfrm>
          <a:prstGeom prst="rect">
            <a:avLst/>
          </a:prstGeom>
        </p:spPr>
        <p:txBody>
          <a:bodyPr wrap="square" lIns="0" tIns="0" rIns="0" bIns="0" rtlCol="0" anchor="t">
            <a:spAutoFit/>
          </a:bodyPr>
          <a:lstStyle/>
          <a:p>
            <a:pPr algn="l">
              <a:lnSpc>
                <a:spcPts val="2098"/>
              </a:lnSpc>
            </a:pPr>
            <a:r>
              <a:rPr lang="en-US" sz="1499" dirty="0" err="1">
                <a:solidFill>
                  <a:srgbClr val="111111"/>
                </a:solidFill>
                <a:latin typeface="Work Sans"/>
                <a:ea typeface="Work Sans"/>
                <a:cs typeface="Work Sans"/>
                <a:sym typeface="Work Sans"/>
              </a:rPr>
              <a:t>Block_E</a:t>
            </a:r>
            <a:endParaRPr lang="en-US" sz="1499" dirty="0">
              <a:solidFill>
                <a:srgbClr val="111111"/>
              </a:solidFill>
              <a:latin typeface="Work Sans"/>
              <a:ea typeface="Work Sans"/>
              <a:cs typeface="Work Sans"/>
              <a:sym typeface="Work Sans"/>
            </a:endParaRPr>
          </a:p>
        </p:txBody>
      </p:sp>
      <p:sp>
        <p:nvSpPr>
          <p:cNvPr id="12" name="TextBox 12"/>
          <p:cNvSpPr txBox="1"/>
          <p:nvPr/>
        </p:nvSpPr>
        <p:spPr>
          <a:xfrm>
            <a:off x="3372317" y="7770152"/>
            <a:ext cx="120796" cy="265300"/>
          </a:xfrm>
          <a:prstGeom prst="rect">
            <a:avLst/>
          </a:prstGeom>
        </p:spPr>
        <p:txBody>
          <a:bodyPr lIns="0" tIns="0" rIns="0" bIns="0" rtlCol="0" anchor="t">
            <a:spAutoFit/>
          </a:bodyPr>
          <a:lstStyle/>
          <a:p>
            <a:pPr algn="l">
              <a:lnSpc>
                <a:spcPts val="2098"/>
              </a:lnSpc>
            </a:pPr>
            <a:r>
              <a:rPr lang="en-US" sz="1499">
                <a:solidFill>
                  <a:srgbClr val="111111"/>
                </a:solidFill>
                <a:latin typeface="Work Sans"/>
                <a:ea typeface="Work Sans"/>
                <a:cs typeface="Work Sans"/>
                <a:sym typeface="Work Sans"/>
              </a:rPr>
              <a:t>0</a:t>
            </a:r>
          </a:p>
        </p:txBody>
      </p:sp>
      <p:sp>
        <p:nvSpPr>
          <p:cNvPr id="13" name="TextBox 13"/>
          <p:cNvSpPr txBox="1"/>
          <p:nvPr/>
        </p:nvSpPr>
        <p:spPr>
          <a:xfrm>
            <a:off x="6038498" y="7770152"/>
            <a:ext cx="470554" cy="249812"/>
          </a:xfrm>
          <a:prstGeom prst="rect">
            <a:avLst/>
          </a:prstGeom>
        </p:spPr>
        <p:txBody>
          <a:bodyPr wrap="square" lIns="0" tIns="0" rIns="0" bIns="0" rtlCol="0" anchor="t">
            <a:spAutoFit/>
          </a:bodyPr>
          <a:lstStyle/>
          <a:p>
            <a:pPr algn="l">
              <a:lnSpc>
                <a:spcPts val="2098"/>
              </a:lnSpc>
            </a:pPr>
            <a:r>
              <a:rPr lang="en-US" sz="1499" dirty="0">
                <a:solidFill>
                  <a:srgbClr val="111111"/>
                </a:solidFill>
                <a:latin typeface="Work Sans"/>
                <a:ea typeface="Work Sans"/>
                <a:cs typeface="Work Sans"/>
                <a:sym typeface="Work Sans"/>
              </a:rPr>
              <a:t>1000</a:t>
            </a:r>
          </a:p>
        </p:txBody>
      </p:sp>
      <p:sp>
        <p:nvSpPr>
          <p:cNvPr id="14" name="TextBox 14"/>
          <p:cNvSpPr txBox="1"/>
          <p:nvPr/>
        </p:nvSpPr>
        <p:spPr>
          <a:xfrm>
            <a:off x="8915752" y="7770152"/>
            <a:ext cx="470554" cy="265300"/>
          </a:xfrm>
          <a:prstGeom prst="rect">
            <a:avLst/>
          </a:prstGeom>
        </p:spPr>
        <p:txBody>
          <a:bodyPr lIns="0" tIns="0" rIns="0" bIns="0" rtlCol="0" anchor="t">
            <a:spAutoFit/>
          </a:bodyPr>
          <a:lstStyle/>
          <a:p>
            <a:pPr algn="l">
              <a:lnSpc>
                <a:spcPts val="2098"/>
              </a:lnSpc>
            </a:pPr>
            <a:r>
              <a:rPr lang="en-US" sz="1499">
                <a:solidFill>
                  <a:srgbClr val="111111"/>
                </a:solidFill>
                <a:latin typeface="Work Sans"/>
                <a:ea typeface="Work Sans"/>
                <a:cs typeface="Work Sans"/>
                <a:sym typeface="Work Sans"/>
              </a:rPr>
              <a:t>2000</a:t>
            </a:r>
          </a:p>
        </p:txBody>
      </p:sp>
      <p:sp>
        <p:nvSpPr>
          <p:cNvPr id="15" name="TextBox 15"/>
          <p:cNvSpPr txBox="1"/>
          <p:nvPr/>
        </p:nvSpPr>
        <p:spPr>
          <a:xfrm>
            <a:off x="11773195" y="7770152"/>
            <a:ext cx="470554" cy="265300"/>
          </a:xfrm>
          <a:prstGeom prst="rect">
            <a:avLst/>
          </a:prstGeom>
        </p:spPr>
        <p:txBody>
          <a:bodyPr lIns="0" tIns="0" rIns="0" bIns="0" rtlCol="0" anchor="t">
            <a:spAutoFit/>
          </a:bodyPr>
          <a:lstStyle/>
          <a:p>
            <a:pPr algn="l">
              <a:lnSpc>
                <a:spcPts val="2098"/>
              </a:lnSpc>
            </a:pPr>
            <a:r>
              <a:rPr lang="en-US" sz="1499">
                <a:solidFill>
                  <a:srgbClr val="111111"/>
                </a:solidFill>
                <a:latin typeface="Work Sans"/>
                <a:ea typeface="Work Sans"/>
                <a:cs typeface="Work Sans"/>
                <a:sym typeface="Work Sans"/>
              </a:rPr>
              <a:t>3000</a:t>
            </a:r>
          </a:p>
        </p:txBody>
      </p:sp>
      <p:sp>
        <p:nvSpPr>
          <p:cNvPr id="16" name="TextBox 16"/>
          <p:cNvSpPr txBox="1"/>
          <p:nvPr/>
        </p:nvSpPr>
        <p:spPr>
          <a:xfrm>
            <a:off x="14630638" y="7770152"/>
            <a:ext cx="609362" cy="249812"/>
          </a:xfrm>
          <a:prstGeom prst="rect">
            <a:avLst/>
          </a:prstGeom>
        </p:spPr>
        <p:txBody>
          <a:bodyPr wrap="square" lIns="0" tIns="0" rIns="0" bIns="0" rtlCol="0" anchor="t">
            <a:spAutoFit/>
          </a:bodyPr>
          <a:lstStyle/>
          <a:p>
            <a:pPr algn="l">
              <a:lnSpc>
                <a:spcPts val="2098"/>
              </a:lnSpc>
            </a:pPr>
            <a:r>
              <a:rPr lang="en-US" sz="1499" dirty="0">
                <a:solidFill>
                  <a:srgbClr val="111111"/>
                </a:solidFill>
                <a:latin typeface="Work Sans"/>
                <a:ea typeface="Work Sans"/>
                <a:cs typeface="Work Sans"/>
                <a:sym typeface="Work Sans"/>
              </a:rPr>
              <a:t>4000</a:t>
            </a:r>
          </a:p>
        </p:txBody>
      </p:sp>
      <p:sp>
        <p:nvSpPr>
          <p:cNvPr id="17" name="TextBox 17"/>
          <p:cNvSpPr txBox="1"/>
          <p:nvPr/>
        </p:nvSpPr>
        <p:spPr>
          <a:xfrm>
            <a:off x="8860517" y="4371099"/>
            <a:ext cx="511597" cy="320288"/>
          </a:xfrm>
          <a:prstGeom prst="rect">
            <a:avLst/>
          </a:prstGeom>
        </p:spPr>
        <p:txBody>
          <a:bodyPr lIns="0" tIns="0" rIns="0" bIns="0" rtlCol="0" anchor="t">
            <a:spAutoFit/>
          </a:bodyPr>
          <a:lstStyle/>
          <a:p>
            <a:pPr algn="l">
              <a:lnSpc>
                <a:spcPts val="2518"/>
              </a:lnSpc>
            </a:pPr>
            <a:r>
              <a:rPr lang="en-US" sz="1799">
                <a:solidFill>
                  <a:srgbClr val="111111"/>
                </a:solidFill>
                <a:latin typeface="Work Sans"/>
                <a:ea typeface="Work Sans"/>
                <a:cs typeface="Work Sans"/>
                <a:sym typeface="Work Sans"/>
              </a:rPr>
              <a:t>1834</a:t>
            </a:r>
          </a:p>
        </p:txBody>
      </p:sp>
      <p:sp>
        <p:nvSpPr>
          <p:cNvPr id="18" name="TextBox 18"/>
          <p:cNvSpPr txBox="1"/>
          <p:nvPr/>
        </p:nvSpPr>
        <p:spPr>
          <a:xfrm>
            <a:off x="8857659" y="5256905"/>
            <a:ext cx="505073" cy="320288"/>
          </a:xfrm>
          <a:prstGeom prst="rect">
            <a:avLst/>
          </a:prstGeom>
        </p:spPr>
        <p:txBody>
          <a:bodyPr lIns="0" tIns="0" rIns="0" bIns="0" rtlCol="0" anchor="t">
            <a:spAutoFit/>
          </a:bodyPr>
          <a:lstStyle/>
          <a:p>
            <a:pPr algn="l">
              <a:lnSpc>
                <a:spcPts val="2518"/>
              </a:lnSpc>
            </a:pPr>
            <a:r>
              <a:rPr lang="en-US" sz="1799">
                <a:solidFill>
                  <a:srgbClr val="111111"/>
                </a:solidFill>
                <a:latin typeface="Work Sans"/>
                <a:ea typeface="Work Sans"/>
                <a:cs typeface="Work Sans"/>
                <a:sym typeface="Work Sans"/>
              </a:rPr>
              <a:t>1833</a:t>
            </a:r>
          </a:p>
        </p:txBody>
      </p:sp>
      <p:sp>
        <p:nvSpPr>
          <p:cNvPr id="19" name="TextBox 19"/>
          <p:cNvSpPr txBox="1"/>
          <p:nvPr/>
        </p:nvSpPr>
        <p:spPr>
          <a:xfrm>
            <a:off x="8857659" y="6142711"/>
            <a:ext cx="505073" cy="320288"/>
          </a:xfrm>
          <a:prstGeom prst="rect">
            <a:avLst/>
          </a:prstGeom>
        </p:spPr>
        <p:txBody>
          <a:bodyPr lIns="0" tIns="0" rIns="0" bIns="0" rtlCol="0" anchor="t">
            <a:spAutoFit/>
          </a:bodyPr>
          <a:lstStyle/>
          <a:p>
            <a:pPr algn="l">
              <a:lnSpc>
                <a:spcPts val="2518"/>
              </a:lnSpc>
            </a:pPr>
            <a:r>
              <a:rPr lang="en-US" sz="1799">
                <a:solidFill>
                  <a:srgbClr val="111111"/>
                </a:solidFill>
                <a:latin typeface="Work Sans"/>
                <a:ea typeface="Work Sans"/>
                <a:cs typeface="Work Sans"/>
                <a:sym typeface="Work Sans"/>
              </a:rPr>
              <a:t>1833</a:t>
            </a:r>
          </a:p>
        </p:txBody>
      </p:sp>
      <p:sp>
        <p:nvSpPr>
          <p:cNvPr id="20" name="TextBox 20"/>
          <p:cNvSpPr txBox="1"/>
          <p:nvPr/>
        </p:nvSpPr>
        <p:spPr>
          <a:xfrm>
            <a:off x="8857659" y="7028517"/>
            <a:ext cx="505073" cy="320288"/>
          </a:xfrm>
          <a:prstGeom prst="rect">
            <a:avLst/>
          </a:prstGeom>
        </p:spPr>
        <p:txBody>
          <a:bodyPr lIns="0" tIns="0" rIns="0" bIns="0" rtlCol="0" anchor="t">
            <a:spAutoFit/>
          </a:bodyPr>
          <a:lstStyle/>
          <a:p>
            <a:pPr algn="l">
              <a:lnSpc>
                <a:spcPts val="2518"/>
              </a:lnSpc>
            </a:pPr>
            <a:r>
              <a:rPr lang="en-US" sz="1799">
                <a:solidFill>
                  <a:srgbClr val="111111"/>
                </a:solidFill>
                <a:latin typeface="Work Sans"/>
                <a:ea typeface="Work Sans"/>
                <a:cs typeface="Work Sans"/>
                <a:sym typeface="Work Sans"/>
              </a:rPr>
              <a:t>1833</a:t>
            </a:r>
          </a:p>
        </p:txBody>
      </p:sp>
      <p:sp>
        <p:nvSpPr>
          <p:cNvPr id="21" name="TextBox 21"/>
          <p:cNvSpPr txBox="1"/>
          <p:nvPr/>
        </p:nvSpPr>
        <p:spPr>
          <a:xfrm>
            <a:off x="14095352" y="3485293"/>
            <a:ext cx="569195" cy="320288"/>
          </a:xfrm>
          <a:prstGeom prst="rect">
            <a:avLst/>
          </a:prstGeom>
        </p:spPr>
        <p:txBody>
          <a:bodyPr lIns="0" tIns="0" rIns="0" bIns="0" rtlCol="0" anchor="t">
            <a:spAutoFit/>
          </a:bodyPr>
          <a:lstStyle/>
          <a:p>
            <a:pPr algn="l">
              <a:lnSpc>
                <a:spcPts val="2518"/>
              </a:lnSpc>
            </a:pPr>
            <a:r>
              <a:rPr lang="en-US" sz="1799" spc="21">
                <a:solidFill>
                  <a:srgbClr val="111111"/>
                </a:solidFill>
                <a:latin typeface="Work Sans"/>
                <a:ea typeface="Work Sans"/>
                <a:cs typeface="Work Sans"/>
                <a:sym typeface="Work Sans"/>
              </a:rPr>
              <a:t>3666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6997" y="-126997"/>
            <a:ext cx="18414997" cy="10413997"/>
          </a:xfrm>
          <a:custGeom>
            <a:avLst/>
            <a:gdLst/>
            <a:ahLst/>
            <a:cxnLst/>
            <a:rect l="l" t="t" r="r" b="b"/>
            <a:pathLst>
              <a:path w="18414997" h="10413997">
                <a:moveTo>
                  <a:pt x="0" y="0"/>
                </a:moveTo>
                <a:lnTo>
                  <a:pt x="18414997" y="0"/>
                </a:lnTo>
                <a:lnTo>
                  <a:pt x="18414997" y="10413997"/>
                </a:lnTo>
                <a:lnTo>
                  <a:pt x="0" y="104139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TextBox 5"/>
          <p:cNvSpPr txBox="1"/>
          <p:nvPr/>
        </p:nvSpPr>
        <p:spPr>
          <a:xfrm>
            <a:off x="3922262" y="963197"/>
            <a:ext cx="5258181" cy="334118"/>
          </a:xfrm>
          <a:prstGeom prst="rect">
            <a:avLst/>
          </a:prstGeom>
        </p:spPr>
        <p:txBody>
          <a:bodyPr lIns="0" tIns="0" rIns="0" bIns="0" rtlCol="0" anchor="t">
            <a:spAutoFit/>
          </a:bodyPr>
          <a:lstStyle/>
          <a:p>
            <a:pPr algn="l">
              <a:lnSpc>
                <a:spcPts val="2520"/>
              </a:lnSpc>
            </a:pPr>
            <a:r>
              <a:rPr lang="en-US" sz="1800" spc="349">
                <a:solidFill>
                  <a:srgbClr val="111111"/>
                </a:solidFill>
                <a:latin typeface="Work Sans"/>
                <a:ea typeface="Work Sans"/>
                <a:cs typeface="Work Sans"/>
                <a:sym typeface="Work Sans"/>
              </a:rPr>
              <a:t>CUSTOMER GENDER DISTRIBUTION</a:t>
            </a:r>
          </a:p>
        </p:txBody>
      </p:sp>
      <p:sp>
        <p:nvSpPr>
          <p:cNvPr id="6" name="TextBox 6"/>
          <p:cNvSpPr txBox="1"/>
          <p:nvPr/>
        </p:nvSpPr>
        <p:spPr>
          <a:xfrm>
            <a:off x="14001750" y="896522"/>
            <a:ext cx="2849709" cy="3764044"/>
          </a:xfrm>
          <a:prstGeom prst="rect">
            <a:avLst/>
          </a:prstGeom>
        </p:spPr>
        <p:txBody>
          <a:bodyPr lIns="0" tIns="0" rIns="0" bIns="0" rtlCol="0" anchor="t">
            <a:spAutoFit/>
          </a:bodyPr>
          <a:lstStyle/>
          <a:p>
            <a:pPr algn="l">
              <a:lnSpc>
                <a:spcPts val="3232"/>
              </a:lnSpc>
            </a:pPr>
            <a:r>
              <a:rPr lang="en-US" sz="1800" spc="329" dirty="0">
                <a:solidFill>
                  <a:srgbClr val="111111"/>
                </a:solidFill>
                <a:latin typeface="Work Sans"/>
                <a:ea typeface="Work Sans"/>
                <a:cs typeface="Work Sans"/>
                <a:sym typeface="Work Sans"/>
              </a:rPr>
              <a:t>ABOUT THE DATA</a:t>
            </a:r>
          </a:p>
          <a:p>
            <a:pPr algn="l">
              <a:lnSpc>
                <a:spcPts val="3771"/>
              </a:lnSpc>
            </a:pPr>
            <a:r>
              <a:rPr lang="en-US" sz="2100" dirty="0">
                <a:solidFill>
                  <a:srgbClr val="111111"/>
                </a:solidFill>
                <a:latin typeface="Noto Serif Japanese Extra-Light"/>
                <a:ea typeface="Noto Serif Japanese Extra-Light"/>
                <a:cs typeface="Noto Serif Japanese Extra-Light"/>
                <a:sym typeface="Noto Serif Japanese Extra-Light"/>
              </a:rPr>
              <a:t>The customer base is almost evenly split: 50.41% female and 49.59% male. Average order value is also near-identical across genders (~200).</a:t>
            </a:r>
          </a:p>
        </p:txBody>
      </p:sp>
      <p:sp>
        <p:nvSpPr>
          <p:cNvPr id="7" name="TextBox 7"/>
          <p:cNvSpPr txBox="1"/>
          <p:nvPr/>
        </p:nvSpPr>
        <p:spPr>
          <a:xfrm>
            <a:off x="2286000" y="4482789"/>
            <a:ext cx="855135" cy="589905"/>
          </a:xfrm>
          <a:prstGeom prst="rect">
            <a:avLst/>
          </a:prstGeom>
        </p:spPr>
        <p:txBody>
          <a:bodyPr wrap="square" lIns="0" tIns="0" rIns="0" bIns="0" rtlCol="0" anchor="t">
            <a:spAutoFit/>
          </a:bodyPr>
          <a:lstStyle/>
          <a:p>
            <a:pPr algn="just">
              <a:lnSpc>
                <a:spcPts val="2300"/>
              </a:lnSpc>
            </a:pPr>
            <a:r>
              <a:rPr lang="en-US" sz="2099" spc="16" dirty="0">
                <a:solidFill>
                  <a:srgbClr val="111111"/>
                </a:solidFill>
                <a:latin typeface="Work Sans"/>
                <a:ea typeface="Work Sans"/>
                <a:cs typeface="Work Sans"/>
                <a:sym typeface="Work Sans"/>
              </a:rPr>
              <a:t>Male 5450</a:t>
            </a:r>
          </a:p>
        </p:txBody>
      </p:sp>
      <p:sp>
        <p:nvSpPr>
          <p:cNvPr id="8" name="TextBox 8"/>
          <p:cNvSpPr txBox="1"/>
          <p:nvPr/>
        </p:nvSpPr>
        <p:spPr>
          <a:xfrm>
            <a:off x="9925374" y="5257486"/>
            <a:ext cx="963292" cy="600694"/>
          </a:xfrm>
          <a:prstGeom prst="rect">
            <a:avLst/>
          </a:prstGeom>
        </p:spPr>
        <p:txBody>
          <a:bodyPr lIns="0" tIns="0" rIns="0" bIns="0" rtlCol="0" anchor="t">
            <a:spAutoFit/>
          </a:bodyPr>
          <a:lstStyle/>
          <a:p>
            <a:pPr algn="l">
              <a:lnSpc>
                <a:spcPts val="2300"/>
              </a:lnSpc>
            </a:pPr>
            <a:r>
              <a:rPr lang="en-US" sz="2099">
                <a:solidFill>
                  <a:srgbClr val="111111"/>
                </a:solidFill>
                <a:latin typeface="Work Sans"/>
                <a:ea typeface="Work Sans"/>
                <a:cs typeface="Work Sans"/>
                <a:sym typeface="Work Sans"/>
              </a:rPr>
              <a:t>Female 5550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BC196EDA-106F-D6B3-5E5D-C9E78F9316D7}"/>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a:extLst>
              <a:ext uri="{FF2B5EF4-FFF2-40B4-BE49-F238E27FC236}">
                <a16:creationId xmlns:a16="http://schemas.microsoft.com/office/drawing/2014/main" id="{790C57FC-6B14-BB4A-167F-6E40E3483BEE}"/>
              </a:ext>
            </a:extLst>
          </p:cNvPr>
          <p:cNvGrpSpPr/>
          <p:nvPr/>
        </p:nvGrpSpPr>
        <p:grpSpPr>
          <a:xfrm>
            <a:off x="2843393" y="952500"/>
            <a:ext cx="11925300" cy="9029700"/>
            <a:chOff x="0" y="0"/>
            <a:chExt cx="15900400" cy="12039600"/>
          </a:xfrm>
        </p:grpSpPr>
        <p:sp>
          <p:nvSpPr>
            <p:cNvPr id="4" name="Freeform 4">
              <a:extLst>
                <a:ext uri="{FF2B5EF4-FFF2-40B4-BE49-F238E27FC236}">
                  <a16:creationId xmlns:a16="http://schemas.microsoft.com/office/drawing/2014/main" id="{410E6F8B-A091-D299-EC92-AE723D793EE2}"/>
                </a:ext>
              </a:extLst>
            </p:cNvPr>
            <p:cNvSpPr/>
            <p:nvPr/>
          </p:nvSpPr>
          <p:spPr>
            <a:xfrm>
              <a:off x="0" y="0"/>
              <a:ext cx="15900400" cy="12039600"/>
            </a:xfrm>
            <a:custGeom>
              <a:avLst/>
              <a:gdLst/>
              <a:ahLst/>
              <a:cxnLst/>
              <a:rect l="l" t="t" r="r" b="b"/>
              <a:pathLst>
                <a:path w="15900400" h="12039600">
                  <a:moveTo>
                    <a:pt x="0" y="0"/>
                  </a:moveTo>
                  <a:lnTo>
                    <a:pt x="15900400" y="0"/>
                  </a:lnTo>
                  <a:lnTo>
                    <a:pt x="15900400" y="12039600"/>
                  </a:lnTo>
                  <a:lnTo>
                    <a:pt x="0" y="12039600"/>
                  </a:lnTo>
                  <a:lnTo>
                    <a:pt x="0" y="0"/>
                  </a:lnTo>
                  <a:close/>
                </a:path>
              </a:pathLst>
            </a:custGeom>
            <a:blipFill>
              <a:blip r:embed="rId4"/>
              <a:stretch>
                <a:fillRect r="-79"/>
              </a:stretch>
            </a:blipFill>
          </p:spPr>
        </p:sp>
      </p:grpSp>
      <p:sp>
        <p:nvSpPr>
          <p:cNvPr id="7" name="TextBox 7">
            <a:extLst>
              <a:ext uri="{FF2B5EF4-FFF2-40B4-BE49-F238E27FC236}">
                <a16:creationId xmlns:a16="http://schemas.microsoft.com/office/drawing/2014/main" id="{1F122EE1-47FF-0EC0-8162-0D5736D1D928}"/>
              </a:ext>
            </a:extLst>
          </p:cNvPr>
          <p:cNvSpPr txBox="1"/>
          <p:nvPr/>
        </p:nvSpPr>
        <p:spPr>
          <a:xfrm>
            <a:off x="914400" y="358140"/>
            <a:ext cx="6227397" cy="363818"/>
          </a:xfrm>
          <a:prstGeom prst="rect">
            <a:avLst/>
          </a:prstGeom>
        </p:spPr>
        <p:txBody>
          <a:bodyPr lIns="0" tIns="0" rIns="0" bIns="0" rtlCol="0" anchor="t">
            <a:spAutoFit/>
          </a:bodyPr>
          <a:lstStyle/>
          <a:p>
            <a:pPr algn="l">
              <a:lnSpc>
                <a:spcPts val="3149"/>
              </a:lnSpc>
            </a:pPr>
            <a:r>
              <a:rPr lang="en-US" sz="2250" dirty="0">
                <a:solidFill>
                  <a:srgbClr val="473D3C"/>
                </a:solidFill>
                <a:latin typeface="Overpass"/>
                <a:ea typeface="Overpass"/>
                <a:cs typeface="Overpass"/>
                <a:sym typeface="Overpass"/>
              </a:rPr>
              <a:t>Dashboard visuals </a:t>
            </a:r>
          </a:p>
        </p:txBody>
      </p:sp>
    </p:spTree>
    <p:extLst>
      <p:ext uri="{BB962C8B-B14F-4D97-AF65-F5344CB8AC3E}">
        <p14:creationId xmlns:p14="http://schemas.microsoft.com/office/powerpoint/2010/main" val="28326552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460FAD35-1FE3-7777-86E6-6913B046CF11}"/>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5" name="TextBox 5">
            <a:extLst>
              <a:ext uri="{FF2B5EF4-FFF2-40B4-BE49-F238E27FC236}">
                <a16:creationId xmlns:a16="http://schemas.microsoft.com/office/drawing/2014/main" id="{7DF5276E-00B8-D93B-4A8D-1A001BC25C75}"/>
              </a:ext>
            </a:extLst>
          </p:cNvPr>
          <p:cNvSpPr txBox="1"/>
          <p:nvPr/>
        </p:nvSpPr>
        <p:spPr>
          <a:xfrm>
            <a:off x="952500" y="964111"/>
            <a:ext cx="2095500" cy="363818"/>
          </a:xfrm>
          <a:prstGeom prst="rect">
            <a:avLst/>
          </a:prstGeom>
        </p:spPr>
        <p:txBody>
          <a:bodyPr wrap="square" lIns="0" tIns="0" rIns="0" bIns="0" rtlCol="0" anchor="t">
            <a:spAutoFit/>
          </a:bodyPr>
          <a:lstStyle/>
          <a:p>
            <a:pPr algn="l">
              <a:lnSpc>
                <a:spcPts val="3149"/>
              </a:lnSpc>
            </a:pPr>
            <a:r>
              <a:rPr lang="en-US" sz="2250" dirty="0">
                <a:latin typeface="Overpass"/>
                <a:ea typeface="Overpass"/>
                <a:cs typeface="Overpass"/>
                <a:sym typeface="Overpass"/>
              </a:rPr>
              <a:t>Key Findings</a:t>
            </a:r>
          </a:p>
        </p:txBody>
      </p:sp>
      <p:sp>
        <p:nvSpPr>
          <p:cNvPr id="6" name="TextBox 6">
            <a:extLst>
              <a:ext uri="{FF2B5EF4-FFF2-40B4-BE49-F238E27FC236}">
                <a16:creationId xmlns:a16="http://schemas.microsoft.com/office/drawing/2014/main" id="{5CB31368-A3CB-2A1D-0183-CB13430657FA}"/>
              </a:ext>
            </a:extLst>
          </p:cNvPr>
          <p:cNvSpPr txBox="1"/>
          <p:nvPr/>
        </p:nvSpPr>
        <p:spPr>
          <a:xfrm>
            <a:off x="1704975" y="3627234"/>
            <a:ext cx="44691" cy="230172"/>
          </a:xfrm>
          <a:prstGeom prst="rect">
            <a:avLst/>
          </a:prstGeom>
        </p:spPr>
        <p:txBody>
          <a:bodyPr lIns="0" tIns="0" rIns="0" bIns="0" rtlCol="0" anchor="t">
            <a:spAutoFit/>
          </a:bodyPr>
          <a:lstStyle/>
          <a:p>
            <a:pPr algn="l">
              <a:lnSpc>
                <a:spcPts val="2100"/>
              </a:lnSpc>
            </a:pPr>
            <a:r>
              <a:rPr lang="en-US" sz="1500">
                <a:solidFill>
                  <a:srgbClr val="D8240C"/>
                </a:solidFill>
                <a:latin typeface="Overpass"/>
                <a:ea typeface="Overpass"/>
                <a:cs typeface="Overpass"/>
                <a:sym typeface="Overpass"/>
              </a:rPr>
              <a:t> </a:t>
            </a:r>
          </a:p>
        </p:txBody>
      </p:sp>
      <p:sp>
        <p:nvSpPr>
          <p:cNvPr id="7" name="TextBox 7">
            <a:extLst>
              <a:ext uri="{FF2B5EF4-FFF2-40B4-BE49-F238E27FC236}">
                <a16:creationId xmlns:a16="http://schemas.microsoft.com/office/drawing/2014/main" id="{E7EEC0E8-8FAE-4324-0E8F-376AA70675F5}"/>
              </a:ext>
            </a:extLst>
          </p:cNvPr>
          <p:cNvSpPr txBox="1"/>
          <p:nvPr/>
        </p:nvSpPr>
        <p:spPr>
          <a:xfrm>
            <a:off x="952500" y="4050211"/>
            <a:ext cx="4866494" cy="1026300"/>
          </a:xfrm>
          <a:prstGeom prst="rect">
            <a:avLst/>
          </a:prstGeom>
        </p:spPr>
        <p:txBody>
          <a:bodyPr lIns="0" tIns="0" rIns="0" bIns="0" rtlCol="0" anchor="t">
            <a:spAutoFit/>
          </a:bodyPr>
          <a:lstStyle/>
          <a:p>
            <a:pPr algn="l">
              <a:lnSpc>
                <a:spcPts val="2799"/>
              </a:lnSpc>
            </a:pPr>
            <a:r>
              <a:rPr lang="en-US" sz="2250">
                <a:solidFill>
                  <a:srgbClr val="473D3C"/>
                </a:solidFill>
                <a:latin typeface="Overpass"/>
                <a:ea typeface="Overpass"/>
                <a:cs typeface="Overpass"/>
                <a:sym typeface="Overpass"/>
              </a:rPr>
              <a:t>Ratings are spread evenly from Poor to Excellent (~2.2K each), signalling room to lift satisfaction.</a:t>
            </a:r>
          </a:p>
        </p:txBody>
      </p:sp>
      <p:sp>
        <p:nvSpPr>
          <p:cNvPr id="8" name="TextBox 8">
            <a:extLst>
              <a:ext uri="{FF2B5EF4-FFF2-40B4-BE49-F238E27FC236}">
                <a16:creationId xmlns:a16="http://schemas.microsoft.com/office/drawing/2014/main" id="{45C2798E-1B61-4284-7161-54F46E07FEC0}"/>
              </a:ext>
            </a:extLst>
          </p:cNvPr>
          <p:cNvSpPr txBox="1"/>
          <p:nvPr/>
        </p:nvSpPr>
        <p:spPr>
          <a:xfrm>
            <a:off x="1800225" y="6675234"/>
            <a:ext cx="44691" cy="230172"/>
          </a:xfrm>
          <a:prstGeom prst="rect">
            <a:avLst/>
          </a:prstGeom>
        </p:spPr>
        <p:txBody>
          <a:bodyPr lIns="0" tIns="0" rIns="0" bIns="0" rtlCol="0" anchor="t">
            <a:spAutoFit/>
          </a:bodyPr>
          <a:lstStyle/>
          <a:p>
            <a:pPr algn="l">
              <a:lnSpc>
                <a:spcPts val="2100"/>
              </a:lnSpc>
            </a:pPr>
            <a:r>
              <a:rPr lang="en-US" sz="1500">
                <a:solidFill>
                  <a:srgbClr val="D8240C"/>
                </a:solidFill>
                <a:latin typeface="Overpass"/>
                <a:ea typeface="Overpass"/>
                <a:cs typeface="Overpass"/>
                <a:sym typeface="Overpass"/>
              </a:rPr>
              <a:t> </a:t>
            </a:r>
          </a:p>
        </p:txBody>
      </p:sp>
      <p:sp>
        <p:nvSpPr>
          <p:cNvPr id="9" name="TextBox 9">
            <a:extLst>
              <a:ext uri="{FF2B5EF4-FFF2-40B4-BE49-F238E27FC236}">
                <a16:creationId xmlns:a16="http://schemas.microsoft.com/office/drawing/2014/main" id="{6C0CE087-1660-72D8-7A89-44ACA9B456C3}"/>
              </a:ext>
            </a:extLst>
          </p:cNvPr>
          <p:cNvSpPr txBox="1"/>
          <p:nvPr/>
        </p:nvSpPr>
        <p:spPr>
          <a:xfrm>
            <a:off x="952500" y="7088686"/>
            <a:ext cx="5065662" cy="683400"/>
          </a:xfrm>
          <a:prstGeom prst="rect">
            <a:avLst/>
          </a:prstGeom>
        </p:spPr>
        <p:txBody>
          <a:bodyPr lIns="0" tIns="0" rIns="0" bIns="0" rtlCol="0" anchor="t">
            <a:spAutoFit/>
          </a:bodyPr>
          <a:lstStyle/>
          <a:p>
            <a:pPr algn="l">
              <a:lnSpc>
                <a:spcPts val="2850"/>
              </a:lnSpc>
            </a:pPr>
            <a:r>
              <a:rPr lang="en-US" sz="2250">
                <a:solidFill>
                  <a:srgbClr val="473D3C"/>
                </a:solidFill>
                <a:latin typeface="Overpass"/>
                <a:ea typeface="Overpass"/>
                <a:cs typeface="Overpass"/>
                <a:sym typeface="Overpass"/>
              </a:rPr>
              <a:t>Block E handles roughly double the volume of Blocks A–D, indicating uneven workload.</a:t>
            </a:r>
          </a:p>
        </p:txBody>
      </p:sp>
      <p:sp>
        <p:nvSpPr>
          <p:cNvPr id="10" name="TextBox 10">
            <a:extLst>
              <a:ext uri="{FF2B5EF4-FFF2-40B4-BE49-F238E27FC236}">
                <a16:creationId xmlns:a16="http://schemas.microsoft.com/office/drawing/2014/main" id="{D5237BAE-28C3-D3C1-DD06-E6E89DDD1761}"/>
              </a:ext>
            </a:extLst>
          </p:cNvPr>
          <p:cNvSpPr txBox="1"/>
          <p:nvPr/>
        </p:nvSpPr>
        <p:spPr>
          <a:xfrm>
            <a:off x="7400925" y="3627234"/>
            <a:ext cx="44691" cy="230172"/>
          </a:xfrm>
          <a:prstGeom prst="rect">
            <a:avLst/>
          </a:prstGeom>
        </p:spPr>
        <p:txBody>
          <a:bodyPr lIns="0" tIns="0" rIns="0" bIns="0" rtlCol="0" anchor="t">
            <a:spAutoFit/>
          </a:bodyPr>
          <a:lstStyle/>
          <a:p>
            <a:pPr algn="l">
              <a:lnSpc>
                <a:spcPts val="2100"/>
              </a:lnSpc>
            </a:pPr>
            <a:r>
              <a:rPr lang="en-US" sz="1500">
                <a:solidFill>
                  <a:srgbClr val="D8240C"/>
                </a:solidFill>
                <a:latin typeface="Overpass"/>
                <a:ea typeface="Overpass"/>
                <a:cs typeface="Overpass"/>
                <a:sym typeface="Overpass"/>
              </a:rPr>
              <a:t> </a:t>
            </a:r>
          </a:p>
        </p:txBody>
      </p:sp>
      <p:sp>
        <p:nvSpPr>
          <p:cNvPr id="11" name="TextBox 11">
            <a:extLst>
              <a:ext uri="{FF2B5EF4-FFF2-40B4-BE49-F238E27FC236}">
                <a16:creationId xmlns:a16="http://schemas.microsoft.com/office/drawing/2014/main" id="{320C86EC-22D2-5E8F-B74D-C702AEA19AB4}"/>
              </a:ext>
            </a:extLst>
          </p:cNvPr>
          <p:cNvSpPr txBox="1"/>
          <p:nvPr/>
        </p:nvSpPr>
        <p:spPr>
          <a:xfrm>
            <a:off x="6667500" y="4040686"/>
            <a:ext cx="4652753" cy="686257"/>
          </a:xfrm>
          <a:prstGeom prst="rect">
            <a:avLst/>
          </a:prstGeom>
        </p:spPr>
        <p:txBody>
          <a:bodyPr lIns="0" tIns="0" rIns="0" bIns="0" rtlCol="0" anchor="t">
            <a:spAutoFit/>
          </a:bodyPr>
          <a:lstStyle/>
          <a:p>
            <a:pPr algn="l">
              <a:lnSpc>
                <a:spcPts val="2850"/>
              </a:lnSpc>
            </a:pPr>
            <a:r>
              <a:rPr lang="en-US" sz="2250">
                <a:solidFill>
                  <a:srgbClr val="473D3C"/>
                </a:solidFill>
                <a:latin typeface="Overpass"/>
                <a:ea typeface="Overpass"/>
                <a:cs typeface="Overpass"/>
                <a:sym typeface="Overpass"/>
              </a:rPr>
              <a:t>59.67% of orders (6.56K) were delayed; only 40.3% arrived on time.</a:t>
            </a:r>
          </a:p>
        </p:txBody>
      </p:sp>
      <p:sp>
        <p:nvSpPr>
          <p:cNvPr id="12" name="TextBox 12">
            <a:extLst>
              <a:ext uri="{FF2B5EF4-FFF2-40B4-BE49-F238E27FC236}">
                <a16:creationId xmlns:a16="http://schemas.microsoft.com/office/drawing/2014/main" id="{13AA540B-224A-5C89-658C-35E75E2EA65E}"/>
              </a:ext>
            </a:extLst>
          </p:cNvPr>
          <p:cNvSpPr txBox="1"/>
          <p:nvPr/>
        </p:nvSpPr>
        <p:spPr>
          <a:xfrm>
            <a:off x="7334250" y="6675234"/>
            <a:ext cx="44691" cy="230172"/>
          </a:xfrm>
          <a:prstGeom prst="rect">
            <a:avLst/>
          </a:prstGeom>
        </p:spPr>
        <p:txBody>
          <a:bodyPr lIns="0" tIns="0" rIns="0" bIns="0" rtlCol="0" anchor="t">
            <a:spAutoFit/>
          </a:bodyPr>
          <a:lstStyle/>
          <a:p>
            <a:pPr algn="l">
              <a:lnSpc>
                <a:spcPts val="2100"/>
              </a:lnSpc>
            </a:pPr>
            <a:r>
              <a:rPr lang="en-US" sz="1500">
                <a:solidFill>
                  <a:srgbClr val="D8240C"/>
                </a:solidFill>
                <a:latin typeface="Overpass"/>
                <a:ea typeface="Overpass"/>
                <a:cs typeface="Overpass"/>
                <a:sym typeface="Overpass"/>
              </a:rPr>
              <a:t> </a:t>
            </a:r>
          </a:p>
        </p:txBody>
      </p:sp>
      <p:sp>
        <p:nvSpPr>
          <p:cNvPr id="13" name="TextBox 13">
            <a:extLst>
              <a:ext uri="{FF2B5EF4-FFF2-40B4-BE49-F238E27FC236}">
                <a16:creationId xmlns:a16="http://schemas.microsoft.com/office/drawing/2014/main" id="{D19EC256-48C3-418E-BA0B-5696D7747C84}"/>
              </a:ext>
            </a:extLst>
          </p:cNvPr>
          <p:cNvSpPr txBox="1"/>
          <p:nvPr/>
        </p:nvSpPr>
        <p:spPr>
          <a:xfrm>
            <a:off x="6667500" y="7098211"/>
            <a:ext cx="4847063" cy="1026300"/>
          </a:xfrm>
          <a:prstGeom prst="rect">
            <a:avLst/>
          </a:prstGeom>
        </p:spPr>
        <p:txBody>
          <a:bodyPr lIns="0" tIns="0" rIns="0" bIns="0" rtlCol="0" anchor="t">
            <a:spAutoFit/>
          </a:bodyPr>
          <a:lstStyle/>
          <a:p>
            <a:pPr algn="l">
              <a:lnSpc>
                <a:spcPts val="2799"/>
              </a:lnSpc>
            </a:pPr>
            <a:r>
              <a:rPr lang="en-US" sz="2250">
                <a:solidFill>
                  <a:srgbClr val="473D3C"/>
                </a:solidFill>
                <a:latin typeface="Overpass"/>
                <a:ea typeface="Overpass"/>
                <a:cs typeface="Overpass"/>
                <a:sym typeface="Overpass"/>
              </a:rPr>
              <a:t>High-importance products receive the highest average discount (~15), vs ~13 for low.</a:t>
            </a:r>
          </a:p>
        </p:txBody>
      </p:sp>
      <p:sp>
        <p:nvSpPr>
          <p:cNvPr id="14" name="TextBox 14">
            <a:extLst>
              <a:ext uri="{FF2B5EF4-FFF2-40B4-BE49-F238E27FC236}">
                <a16:creationId xmlns:a16="http://schemas.microsoft.com/office/drawing/2014/main" id="{42EBD4EE-B2BE-6253-B7EF-D8D40E1F8E5B}"/>
              </a:ext>
            </a:extLst>
          </p:cNvPr>
          <p:cNvSpPr txBox="1"/>
          <p:nvPr/>
        </p:nvSpPr>
        <p:spPr>
          <a:xfrm>
            <a:off x="13039725" y="3627234"/>
            <a:ext cx="44691" cy="230172"/>
          </a:xfrm>
          <a:prstGeom prst="rect">
            <a:avLst/>
          </a:prstGeom>
        </p:spPr>
        <p:txBody>
          <a:bodyPr lIns="0" tIns="0" rIns="0" bIns="0" rtlCol="0" anchor="t">
            <a:spAutoFit/>
          </a:bodyPr>
          <a:lstStyle/>
          <a:p>
            <a:pPr algn="l">
              <a:lnSpc>
                <a:spcPts val="2100"/>
              </a:lnSpc>
            </a:pPr>
            <a:r>
              <a:rPr lang="en-US" sz="1500">
                <a:solidFill>
                  <a:srgbClr val="D8240C"/>
                </a:solidFill>
                <a:latin typeface="Overpass"/>
                <a:ea typeface="Overpass"/>
                <a:cs typeface="Overpass"/>
                <a:sym typeface="Overpass"/>
              </a:rPr>
              <a:t> </a:t>
            </a:r>
          </a:p>
        </p:txBody>
      </p:sp>
      <p:sp>
        <p:nvSpPr>
          <p:cNvPr id="15" name="TextBox 15">
            <a:extLst>
              <a:ext uri="{FF2B5EF4-FFF2-40B4-BE49-F238E27FC236}">
                <a16:creationId xmlns:a16="http://schemas.microsoft.com/office/drawing/2014/main" id="{3BA362C6-3536-2024-7CEF-8ECBEE7CEFAB}"/>
              </a:ext>
            </a:extLst>
          </p:cNvPr>
          <p:cNvSpPr txBox="1"/>
          <p:nvPr/>
        </p:nvSpPr>
        <p:spPr>
          <a:xfrm>
            <a:off x="12382500" y="4040686"/>
            <a:ext cx="4900498" cy="686257"/>
          </a:xfrm>
          <a:prstGeom prst="rect">
            <a:avLst/>
          </a:prstGeom>
        </p:spPr>
        <p:txBody>
          <a:bodyPr lIns="0" tIns="0" rIns="0" bIns="0" rtlCol="0" anchor="t">
            <a:spAutoFit/>
          </a:bodyPr>
          <a:lstStyle/>
          <a:p>
            <a:pPr algn="l">
              <a:lnSpc>
                <a:spcPts val="2850"/>
              </a:lnSpc>
            </a:pPr>
            <a:r>
              <a:rPr lang="en-US" sz="2250">
                <a:solidFill>
                  <a:srgbClr val="473D3C"/>
                </a:solidFill>
                <a:latin typeface="Overpass"/>
                <a:ea typeface="Overpass"/>
                <a:cs typeface="Overpass"/>
                <a:sym typeface="Overpass"/>
              </a:rPr>
              <a:t>Ship is the dominant mode (~7.5K orders), far ahead of Flight and Road (~1.8K each).</a:t>
            </a:r>
          </a:p>
        </p:txBody>
      </p:sp>
      <p:sp>
        <p:nvSpPr>
          <p:cNvPr id="16" name="TextBox 16">
            <a:extLst>
              <a:ext uri="{FF2B5EF4-FFF2-40B4-BE49-F238E27FC236}">
                <a16:creationId xmlns:a16="http://schemas.microsoft.com/office/drawing/2014/main" id="{8A545C5A-6363-C4CD-837F-E0AF783A998F}"/>
              </a:ext>
            </a:extLst>
          </p:cNvPr>
          <p:cNvSpPr txBox="1"/>
          <p:nvPr/>
        </p:nvSpPr>
        <p:spPr>
          <a:xfrm>
            <a:off x="13011150" y="6675234"/>
            <a:ext cx="44691" cy="230172"/>
          </a:xfrm>
          <a:prstGeom prst="rect">
            <a:avLst/>
          </a:prstGeom>
        </p:spPr>
        <p:txBody>
          <a:bodyPr lIns="0" tIns="0" rIns="0" bIns="0" rtlCol="0" anchor="t">
            <a:spAutoFit/>
          </a:bodyPr>
          <a:lstStyle/>
          <a:p>
            <a:pPr algn="l">
              <a:lnSpc>
                <a:spcPts val="2100"/>
              </a:lnSpc>
            </a:pPr>
            <a:r>
              <a:rPr lang="en-US" sz="1500">
                <a:solidFill>
                  <a:srgbClr val="D8240C"/>
                </a:solidFill>
                <a:latin typeface="Overpass"/>
                <a:ea typeface="Overpass"/>
                <a:cs typeface="Overpass"/>
                <a:sym typeface="Overpass"/>
              </a:rPr>
              <a:t> </a:t>
            </a:r>
          </a:p>
        </p:txBody>
      </p:sp>
      <p:sp>
        <p:nvSpPr>
          <p:cNvPr id="17" name="TextBox 17">
            <a:extLst>
              <a:ext uri="{FF2B5EF4-FFF2-40B4-BE49-F238E27FC236}">
                <a16:creationId xmlns:a16="http://schemas.microsoft.com/office/drawing/2014/main" id="{19DD237E-60BE-271F-C41C-8D2BC971E650}"/>
              </a:ext>
            </a:extLst>
          </p:cNvPr>
          <p:cNvSpPr txBox="1"/>
          <p:nvPr/>
        </p:nvSpPr>
        <p:spPr>
          <a:xfrm>
            <a:off x="12382500" y="7088686"/>
            <a:ext cx="5017084" cy="683400"/>
          </a:xfrm>
          <a:prstGeom prst="rect">
            <a:avLst/>
          </a:prstGeom>
        </p:spPr>
        <p:txBody>
          <a:bodyPr lIns="0" tIns="0" rIns="0" bIns="0" rtlCol="0" anchor="t">
            <a:spAutoFit/>
          </a:bodyPr>
          <a:lstStyle/>
          <a:p>
            <a:pPr algn="l">
              <a:lnSpc>
                <a:spcPts val="2850"/>
              </a:lnSpc>
            </a:pPr>
            <a:r>
              <a:rPr lang="en-US" sz="2250">
                <a:solidFill>
                  <a:srgbClr val="473D3C"/>
                </a:solidFill>
                <a:latin typeface="Overpass"/>
                <a:ea typeface="Overpass"/>
                <a:cs typeface="Overpass"/>
                <a:sym typeface="Overpass"/>
              </a:rPr>
              <a:t>Most orders fall in the 10 delivery-fee band, followed by 5; the 15 band is negligible.</a:t>
            </a:r>
          </a:p>
        </p:txBody>
      </p:sp>
      <p:sp>
        <p:nvSpPr>
          <p:cNvPr id="18" name="TextBox 18">
            <a:extLst>
              <a:ext uri="{FF2B5EF4-FFF2-40B4-BE49-F238E27FC236}">
                <a16:creationId xmlns:a16="http://schemas.microsoft.com/office/drawing/2014/main" id="{20F65600-EF9D-5639-189C-EC5C59E09AB2}"/>
              </a:ext>
            </a:extLst>
          </p:cNvPr>
          <p:cNvSpPr txBox="1"/>
          <p:nvPr/>
        </p:nvSpPr>
        <p:spPr>
          <a:xfrm>
            <a:off x="952500" y="1940566"/>
            <a:ext cx="6896100" cy="678263"/>
          </a:xfrm>
          <a:prstGeom prst="rect">
            <a:avLst/>
          </a:prstGeom>
        </p:spPr>
        <p:txBody>
          <a:bodyPr wrap="square" lIns="0" tIns="0" rIns="0" bIns="0" rtlCol="0" anchor="t">
            <a:spAutoFit/>
          </a:bodyPr>
          <a:lstStyle/>
          <a:p>
            <a:pPr algn="l">
              <a:lnSpc>
                <a:spcPts val="5774"/>
              </a:lnSpc>
            </a:pPr>
            <a:r>
              <a:rPr lang="en-US" sz="4125" dirty="0">
                <a:latin typeface="Overpass"/>
                <a:ea typeface="Overpass"/>
                <a:cs typeface="Overpass"/>
                <a:sym typeface="Overpass"/>
              </a:rPr>
              <a:t>What the dashboard reveals</a:t>
            </a:r>
          </a:p>
        </p:txBody>
      </p:sp>
      <p:sp>
        <p:nvSpPr>
          <p:cNvPr id="19" name="TextBox 19">
            <a:extLst>
              <a:ext uri="{FF2B5EF4-FFF2-40B4-BE49-F238E27FC236}">
                <a16:creationId xmlns:a16="http://schemas.microsoft.com/office/drawing/2014/main" id="{A59EBC3F-6279-62D2-B396-91F56D264A3C}"/>
              </a:ext>
            </a:extLst>
          </p:cNvPr>
          <p:cNvSpPr txBox="1"/>
          <p:nvPr/>
        </p:nvSpPr>
        <p:spPr>
          <a:xfrm>
            <a:off x="952500" y="6507893"/>
            <a:ext cx="2095500" cy="245773"/>
          </a:xfrm>
          <a:prstGeom prst="rect">
            <a:avLst/>
          </a:prstGeom>
        </p:spPr>
        <p:txBody>
          <a:bodyPr wrap="square" lIns="0" tIns="0" rIns="0" bIns="0" rtlCol="0" anchor="t">
            <a:spAutoFit/>
          </a:bodyPr>
          <a:lstStyle/>
          <a:p>
            <a:pPr algn="l">
              <a:lnSpc>
                <a:spcPts val="2100"/>
              </a:lnSpc>
            </a:pPr>
            <a:r>
              <a:rPr lang="en-US" sz="1500" dirty="0">
                <a:latin typeface="Overpass"/>
                <a:ea typeface="Overpass"/>
                <a:cs typeface="Overpass"/>
                <a:sym typeface="Overpass"/>
              </a:rPr>
              <a:t>Warehouse </a:t>
            </a:r>
            <a:r>
              <a:rPr lang="en-US" sz="1500" dirty="0" err="1">
                <a:latin typeface="Overpass"/>
                <a:ea typeface="Overpass"/>
                <a:cs typeface="Overpass"/>
                <a:sym typeface="Overpass"/>
              </a:rPr>
              <a:t>Utilisation</a:t>
            </a:r>
            <a:endParaRPr lang="en-US" sz="1500" dirty="0">
              <a:latin typeface="Overpass"/>
              <a:ea typeface="Overpass"/>
              <a:cs typeface="Overpass"/>
              <a:sym typeface="Overpass"/>
            </a:endParaRPr>
          </a:p>
        </p:txBody>
      </p:sp>
      <p:sp>
        <p:nvSpPr>
          <p:cNvPr id="20" name="TextBox 20">
            <a:extLst>
              <a:ext uri="{FF2B5EF4-FFF2-40B4-BE49-F238E27FC236}">
                <a16:creationId xmlns:a16="http://schemas.microsoft.com/office/drawing/2014/main" id="{8BA8A8CB-EF66-CE95-A1B4-C22BD7789B21}"/>
              </a:ext>
            </a:extLst>
          </p:cNvPr>
          <p:cNvSpPr txBox="1"/>
          <p:nvPr/>
        </p:nvSpPr>
        <p:spPr>
          <a:xfrm>
            <a:off x="952500" y="3627234"/>
            <a:ext cx="1943100" cy="245773"/>
          </a:xfrm>
          <a:prstGeom prst="rect">
            <a:avLst/>
          </a:prstGeom>
        </p:spPr>
        <p:txBody>
          <a:bodyPr wrap="square" lIns="0" tIns="0" rIns="0" bIns="0" rtlCol="0" anchor="t">
            <a:spAutoFit/>
          </a:bodyPr>
          <a:lstStyle/>
          <a:p>
            <a:pPr algn="l">
              <a:lnSpc>
                <a:spcPts val="2100"/>
              </a:lnSpc>
            </a:pPr>
            <a:r>
              <a:rPr lang="en-US" sz="1500" dirty="0">
                <a:latin typeface="Overpass"/>
                <a:ea typeface="Overpass"/>
                <a:cs typeface="Overpass"/>
                <a:sym typeface="Overpass"/>
              </a:rPr>
              <a:t>Customer Satisfaction</a:t>
            </a:r>
          </a:p>
        </p:txBody>
      </p:sp>
      <p:sp>
        <p:nvSpPr>
          <p:cNvPr id="21" name="TextBox 21">
            <a:extLst>
              <a:ext uri="{FF2B5EF4-FFF2-40B4-BE49-F238E27FC236}">
                <a16:creationId xmlns:a16="http://schemas.microsoft.com/office/drawing/2014/main" id="{D98E1EF5-45F8-D20A-C667-B3A97A6AE3F5}"/>
              </a:ext>
            </a:extLst>
          </p:cNvPr>
          <p:cNvSpPr txBox="1"/>
          <p:nvPr/>
        </p:nvSpPr>
        <p:spPr>
          <a:xfrm>
            <a:off x="6667500" y="6675234"/>
            <a:ext cx="1409700" cy="245773"/>
          </a:xfrm>
          <a:prstGeom prst="rect">
            <a:avLst/>
          </a:prstGeom>
        </p:spPr>
        <p:txBody>
          <a:bodyPr wrap="square" lIns="0" tIns="0" rIns="0" bIns="0" rtlCol="0" anchor="t">
            <a:spAutoFit/>
          </a:bodyPr>
          <a:lstStyle/>
          <a:p>
            <a:pPr algn="l">
              <a:lnSpc>
                <a:spcPts val="2100"/>
              </a:lnSpc>
            </a:pPr>
            <a:r>
              <a:rPr lang="en-US" sz="1500" dirty="0">
                <a:latin typeface="Overpass"/>
                <a:ea typeface="Overpass"/>
                <a:cs typeface="Overpass"/>
                <a:sym typeface="Overpass"/>
              </a:rPr>
              <a:t>Discount Impact</a:t>
            </a:r>
          </a:p>
        </p:txBody>
      </p:sp>
      <p:sp>
        <p:nvSpPr>
          <p:cNvPr id="22" name="TextBox 22">
            <a:extLst>
              <a:ext uri="{FF2B5EF4-FFF2-40B4-BE49-F238E27FC236}">
                <a16:creationId xmlns:a16="http://schemas.microsoft.com/office/drawing/2014/main" id="{CA161F62-8C04-F6D5-B4BD-B2A59A9F0B32}"/>
              </a:ext>
            </a:extLst>
          </p:cNvPr>
          <p:cNvSpPr txBox="1"/>
          <p:nvPr/>
        </p:nvSpPr>
        <p:spPr>
          <a:xfrm>
            <a:off x="6667499" y="3627234"/>
            <a:ext cx="2050809" cy="245773"/>
          </a:xfrm>
          <a:prstGeom prst="rect">
            <a:avLst/>
          </a:prstGeom>
        </p:spPr>
        <p:txBody>
          <a:bodyPr wrap="square" lIns="0" tIns="0" rIns="0" bIns="0" rtlCol="0" anchor="t">
            <a:spAutoFit/>
          </a:bodyPr>
          <a:lstStyle/>
          <a:p>
            <a:pPr algn="l">
              <a:lnSpc>
                <a:spcPts val="2100"/>
              </a:lnSpc>
            </a:pPr>
            <a:r>
              <a:rPr lang="en-US" sz="1500" dirty="0">
                <a:latin typeface="Overpass"/>
                <a:ea typeface="Overpass"/>
                <a:cs typeface="Overpass"/>
                <a:sym typeface="Overpass"/>
              </a:rPr>
              <a:t>Shipment Performance</a:t>
            </a:r>
          </a:p>
        </p:txBody>
      </p:sp>
      <p:sp>
        <p:nvSpPr>
          <p:cNvPr id="23" name="TextBox 23">
            <a:extLst>
              <a:ext uri="{FF2B5EF4-FFF2-40B4-BE49-F238E27FC236}">
                <a16:creationId xmlns:a16="http://schemas.microsoft.com/office/drawing/2014/main" id="{E5B876FA-F5F4-1F54-56F1-94FF18B75A30}"/>
              </a:ext>
            </a:extLst>
          </p:cNvPr>
          <p:cNvSpPr txBox="1"/>
          <p:nvPr/>
        </p:nvSpPr>
        <p:spPr>
          <a:xfrm>
            <a:off x="12382500" y="6675234"/>
            <a:ext cx="1409700" cy="245773"/>
          </a:xfrm>
          <a:prstGeom prst="rect">
            <a:avLst/>
          </a:prstGeom>
        </p:spPr>
        <p:txBody>
          <a:bodyPr wrap="square" lIns="0" tIns="0" rIns="0" bIns="0" rtlCol="0" anchor="t">
            <a:spAutoFit/>
          </a:bodyPr>
          <a:lstStyle/>
          <a:p>
            <a:pPr algn="l">
              <a:lnSpc>
                <a:spcPts val="2100"/>
              </a:lnSpc>
            </a:pPr>
            <a:r>
              <a:rPr lang="en-US" sz="1500" dirty="0">
                <a:latin typeface="Overpass"/>
                <a:ea typeface="Overpass"/>
                <a:cs typeface="Overpass"/>
                <a:sym typeface="Overpass"/>
              </a:rPr>
              <a:t>Delivery Cost</a:t>
            </a:r>
          </a:p>
        </p:txBody>
      </p:sp>
      <p:sp>
        <p:nvSpPr>
          <p:cNvPr id="24" name="TextBox 24">
            <a:extLst>
              <a:ext uri="{FF2B5EF4-FFF2-40B4-BE49-F238E27FC236}">
                <a16:creationId xmlns:a16="http://schemas.microsoft.com/office/drawing/2014/main" id="{E1B6FFC7-4D36-66EA-9FC0-E9653F188523}"/>
              </a:ext>
            </a:extLst>
          </p:cNvPr>
          <p:cNvSpPr txBox="1"/>
          <p:nvPr/>
        </p:nvSpPr>
        <p:spPr>
          <a:xfrm>
            <a:off x="12382500" y="3627234"/>
            <a:ext cx="1790700" cy="245773"/>
          </a:xfrm>
          <a:prstGeom prst="rect">
            <a:avLst/>
          </a:prstGeom>
        </p:spPr>
        <p:txBody>
          <a:bodyPr wrap="square" lIns="0" tIns="0" rIns="0" bIns="0" rtlCol="0" anchor="t">
            <a:spAutoFit/>
          </a:bodyPr>
          <a:lstStyle/>
          <a:p>
            <a:pPr algn="l">
              <a:lnSpc>
                <a:spcPts val="2100"/>
              </a:lnSpc>
            </a:pPr>
            <a:r>
              <a:rPr lang="en-US" sz="1500" dirty="0">
                <a:latin typeface="Overpass"/>
                <a:ea typeface="Overpass"/>
                <a:cs typeface="Overpass"/>
                <a:sym typeface="Overpass"/>
              </a:rPr>
              <a:t>Shipping Preference</a:t>
            </a:r>
          </a:p>
        </p:txBody>
      </p:sp>
    </p:spTree>
    <p:extLst>
      <p:ext uri="{BB962C8B-B14F-4D97-AF65-F5344CB8AC3E}">
        <p14:creationId xmlns:p14="http://schemas.microsoft.com/office/powerpoint/2010/main" val="14242296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TextBox 5"/>
          <p:cNvSpPr txBox="1"/>
          <p:nvPr/>
        </p:nvSpPr>
        <p:spPr>
          <a:xfrm>
            <a:off x="952500" y="885168"/>
            <a:ext cx="2936710" cy="672300"/>
          </a:xfrm>
          <a:prstGeom prst="rect">
            <a:avLst/>
          </a:prstGeom>
        </p:spPr>
        <p:txBody>
          <a:bodyPr lIns="0" tIns="0" rIns="0" bIns="0" rtlCol="0" anchor="t">
            <a:spAutoFit/>
          </a:bodyPr>
          <a:lstStyle/>
          <a:p>
            <a:pPr algn="l">
              <a:lnSpc>
                <a:spcPts val="5670"/>
              </a:lnSpc>
            </a:pPr>
            <a:r>
              <a:rPr lang="en-US" sz="4050" b="1" dirty="0">
                <a:solidFill>
                  <a:srgbClr val="111111"/>
                </a:solidFill>
                <a:latin typeface="Times New Roman" panose="02020603050405020304" pitchFamily="18" charset="0"/>
                <a:ea typeface="Noto Serif Japanese Extra-Light"/>
                <a:cs typeface="Times New Roman" panose="02020603050405020304" pitchFamily="18" charset="0"/>
                <a:sym typeface="Noto Serif Japanese Extra-Light"/>
              </a:rPr>
              <a:t>Conclusion</a:t>
            </a:r>
          </a:p>
        </p:txBody>
      </p:sp>
      <p:sp>
        <p:nvSpPr>
          <p:cNvPr id="6" name="TextBox 6"/>
          <p:cNvSpPr txBox="1"/>
          <p:nvPr/>
        </p:nvSpPr>
        <p:spPr>
          <a:xfrm>
            <a:off x="1447800" y="1868281"/>
            <a:ext cx="69637" cy="364417"/>
          </a:xfrm>
          <a:prstGeom prst="rect">
            <a:avLst/>
          </a:prstGeom>
        </p:spPr>
        <p:txBody>
          <a:bodyPr lIns="0" tIns="0" rIns="0" bIns="0" rtlCol="0" anchor="t">
            <a:spAutoFit/>
          </a:bodyPr>
          <a:lstStyle/>
          <a:p>
            <a:pPr algn="l">
              <a:lnSpc>
                <a:spcPts val="2940"/>
              </a:lnSpc>
            </a:pPr>
            <a:r>
              <a:rPr lang="en-US" sz="2100">
                <a:solidFill>
                  <a:srgbClr val="111111"/>
                </a:solidFill>
                <a:latin typeface="Noto Serif Japanese Extra-Light"/>
                <a:ea typeface="Noto Serif Japanese Extra-Light"/>
                <a:cs typeface="Noto Serif Japanese Extra-Light"/>
                <a:sym typeface="Noto Serif Japanese Extra-Light"/>
              </a:rPr>
              <a:t> </a:t>
            </a:r>
          </a:p>
        </p:txBody>
      </p:sp>
      <p:sp>
        <p:nvSpPr>
          <p:cNvPr id="7" name="TextBox 7"/>
          <p:cNvSpPr txBox="1"/>
          <p:nvPr/>
        </p:nvSpPr>
        <p:spPr>
          <a:xfrm>
            <a:off x="952500" y="1868281"/>
            <a:ext cx="16062789" cy="343235"/>
          </a:xfrm>
          <a:prstGeom prst="rect">
            <a:avLst/>
          </a:prstGeom>
        </p:spPr>
        <p:txBody>
          <a:bodyPr lIns="0" tIns="0" rIns="0" bIns="0" rtlCol="0" anchor="t">
            <a:spAutoFit/>
          </a:bodyPr>
          <a:lstStyle/>
          <a:p>
            <a:pPr algn="l">
              <a:lnSpc>
                <a:spcPts val="2940"/>
              </a:lnSpc>
            </a:pPr>
            <a:r>
              <a:rPr lang="en-US" sz="2100" dirty="0">
                <a:latin typeface="Noto Serif Japanese Extra-Light"/>
                <a:ea typeface="Noto Serif Japanese Extra-Light"/>
                <a:cs typeface="Noto Serif Japanese Extra-Light"/>
                <a:sym typeface="Noto Serif Japanese Extra-Light"/>
              </a:rPr>
              <a:t>The analysis provides a clearer understanding of customer </a:t>
            </a:r>
            <a:r>
              <a:rPr lang="en-US" sz="2100" dirty="0" err="1">
                <a:latin typeface="Noto Serif Japanese Extra-Light"/>
                <a:ea typeface="Noto Serif Japanese Extra-Light"/>
                <a:cs typeface="Noto Serif Japanese Extra-Light"/>
                <a:sym typeface="Noto Serif Japanese Extra-Light"/>
              </a:rPr>
              <a:t>behaviour</a:t>
            </a:r>
            <a:r>
              <a:rPr lang="en-US" sz="2100" dirty="0">
                <a:latin typeface="Noto Serif Japanese Extra-Light"/>
                <a:ea typeface="Noto Serif Japanese Extra-Light"/>
                <a:cs typeface="Noto Serif Japanese Extra-Light"/>
                <a:sym typeface="Noto Serif Japanese Extra-Light"/>
              </a:rPr>
              <a:t>, satisfaction, shipping performance and warehouse</a:t>
            </a:r>
          </a:p>
        </p:txBody>
      </p:sp>
      <p:sp>
        <p:nvSpPr>
          <p:cNvPr id="8" name="TextBox 8"/>
          <p:cNvSpPr txBox="1"/>
          <p:nvPr/>
        </p:nvSpPr>
        <p:spPr>
          <a:xfrm>
            <a:off x="952500" y="2268331"/>
            <a:ext cx="16499605" cy="1402642"/>
          </a:xfrm>
          <a:prstGeom prst="rect">
            <a:avLst/>
          </a:prstGeom>
        </p:spPr>
        <p:txBody>
          <a:bodyPr lIns="0" tIns="0" rIns="0" bIns="0" rtlCol="0" anchor="t">
            <a:spAutoFit/>
          </a:bodyPr>
          <a:lstStyle/>
          <a:p>
            <a:pPr algn="l">
              <a:lnSpc>
                <a:spcPts val="3775"/>
              </a:lnSpc>
            </a:pPr>
            <a:r>
              <a:rPr lang="en-US" sz="2100" dirty="0" err="1">
                <a:latin typeface="Noto Serif Japanese Extra-Light"/>
                <a:ea typeface="Noto Serif Japanese Extra-Light"/>
                <a:cs typeface="Noto Serif Japanese Extra-Light"/>
                <a:sym typeface="Noto Serif Japanese Extra-Light"/>
              </a:rPr>
              <a:t>utilisation</a:t>
            </a:r>
            <a:r>
              <a:rPr lang="en-US" sz="2100" dirty="0">
                <a:latin typeface="Noto Serif Japanese Extra-Light"/>
                <a:ea typeface="Noto Serif Japanese Extra-Light"/>
                <a:cs typeface="Noto Serif Japanese Extra-Light"/>
                <a:sym typeface="Noto Serif Japanese Extra-Light"/>
              </a:rPr>
              <a:t>. The additional analysis of discounts, delivery fees, order value and customer care activity provides further insight into operational and commercial performance. These findings can support better decisions around customer service, shipping operations, warehouse allocation and promotional strategies.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118</TotalTime>
  <Words>440</Words>
  <Application>Microsoft Office PowerPoint</Application>
  <PresentationFormat>Custom</PresentationFormat>
  <Paragraphs>91</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Overpass</vt:lpstr>
      <vt:lpstr>Arial</vt:lpstr>
      <vt:lpstr>Work Sans</vt:lpstr>
      <vt:lpstr>Calibri</vt:lpstr>
      <vt:lpstr>Times New Roman</vt:lpstr>
      <vt:lpstr>Noto Serif Japanese Extra-Light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Analytics &amp; Shipping Performance Dashboard (1).pdf</dc:title>
  <cp:lastModifiedBy>HP</cp:lastModifiedBy>
  <cp:revision>7</cp:revision>
  <dcterms:created xsi:type="dcterms:W3CDTF">2006-08-16T00:00:00Z</dcterms:created>
  <dcterms:modified xsi:type="dcterms:W3CDTF">2026-10-08T21:57:08Z</dcterms:modified>
  <dc:identifier>DAHXcgVnGwc</dc:identifier>
</cp:coreProperties>
</file>